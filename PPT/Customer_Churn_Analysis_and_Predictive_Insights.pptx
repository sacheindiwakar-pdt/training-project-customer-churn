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A5A3"/>
              </a:solidFill>
              <a:effectLst/>
            </c:spPr>
          </c:dPt>
          <c:dPt>
            <c:idx val="1"/>
            <c:bubble3D val="0"/>
            <c:spPr>
              <a:solidFill>
                <a:srgbClr val="E8590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Active</c:v>
                </c:pt>
                <c:pt idx="1">
                  <c:v>Churned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73</c:v>
                </c:pt>
                <c:pt idx="1">
                  <c:v>27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A9B9C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A5A3"/>
              </a:solidFill>
              <a:effectLst/>
            </c:spPr>
          </c:dPt>
          <c:dPt>
            <c:idx val="1"/>
            <c:bubble3D val="0"/>
            <c:spPr>
              <a:solidFill>
                <a:srgbClr val="D7263D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Active</c:v>
                </c:pt>
                <c:pt idx="1">
                  <c:v>Churned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73</c:v>
                </c:pt>
                <c:pt idx="1">
                  <c:v>27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chart" Target="/ppt/charts/chart1.xm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2.xm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7" Type="http://schemas.openxmlformats.org/officeDocument/2006/relationships/image" Target="../media/image-7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234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A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CAPSTONE PROJECT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589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Churn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Prediction Platform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685800" y="3364992"/>
            <a:ext cx="1005840" cy="41148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352044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9D4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Data Engineering, Machine Learning, API &amp; React Solution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85800" y="43434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A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PRESENTED BY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45445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Sachein Diwakar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5166360"/>
            <a:ext cx="859536" cy="347472"/>
          </a:xfrm>
          <a:prstGeom prst="roundRect">
            <a:avLst>
              <a:gd name="adj" fmla="val 50000"/>
            </a:avLst>
          </a:prstGeom>
          <a:solidFill>
            <a:srgbClr val="17304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5166360"/>
            <a:ext cx="859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E2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673352" y="5166360"/>
            <a:ext cx="768096" cy="347472"/>
          </a:xfrm>
          <a:prstGeom prst="roundRect">
            <a:avLst>
              <a:gd name="adj" fmla="val 50000"/>
            </a:avLst>
          </a:prstGeom>
          <a:solidFill>
            <a:srgbClr val="17304F"/>
          </a:solidFill>
          <a:ln/>
        </p:spPr>
      </p:sp>
      <p:sp>
        <p:nvSpPr>
          <p:cNvPr id="12" name="Text 10"/>
          <p:cNvSpPr/>
          <p:nvPr/>
        </p:nvSpPr>
        <p:spPr>
          <a:xfrm>
            <a:off x="1673352" y="5166360"/>
            <a:ext cx="768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E2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69464" y="5166360"/>
            <a:ext cx="859536" cy="347472"/>
          </a:xfrm>
          <a:prstGeom prst="roundRect">
            <a:avLst>
              <a:gd name="adj" fmla="val 50000"/>
            </a:avLst>
          </a:prstGeom>
          <a:solidFill>
            <a:srgbClr val="17304F"/>
          </a:solidFill>
          <a:ln/>
        </p:spPr>
      </p:sp>
      <p:sp>
        <p:nvSpPr>
          <p:cNvPr id="14" name="Text 12"/>
          <p:cNvSpPr/>
          <p:nvPr/>
        </p:nvSpPr>
        <p:spPr>
          <a:xfrm>
            <a:off x="2569464" y="5166360"/>
            <a:ext cx="859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E2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Pandas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57016" y="5166360"/>
            <a:ext cx="1408176" cy="347472"/>
          </a:xfrm>
          <a:prstGeom prst="roundRect">
            <a:avLst>
              <a:gd name="adj" fmla="val 50000"/>
            </a:avLst>
          </a:prstGeom>
          <a:solidFill>
            <a:srgbClr val="17304F"/>
          </a:solidFill>
          <a:ln/>
        </p:spPr>
      </p:sp>
      <p:sp>
        <p:nvSpPr>
          <p:cNvPr id="16" name="Text 14"/>
          <p:cNvSpPr/>
          <p:nvPr/>
        </p:nvSpPr>
        <p:spPr>
          <a:xfrm>
            <a:off x="3557016" y="5166360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E2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Scikit-Learn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93208" y="5166360"/>
            <a:ext cx="950976" cy="347472"/>
          </a:xfrm>
          <a:prstGeom prst="roundRect">
            <a:avLst>
              <a:gd name="adj" fmla="val 50000"/>
            </a:avLst>
          </a:prstGeom>
          <a:solidFill>
            <a:srgbClr val="17304F"/>
          </a:solidFill>
          <a:ln/>
        </p:spPr>
      </p:sp>
      <p:sp>
        <p:nvSpPr>
          <p:cNvPr id="18" name="Text 16"/>
          <p:cNvSpPr/>
          <p:nvPr/>
        </p:nvSpPr>
        <p:spPr>
          <a:xfrm>
            <a:off x="5093208" y="5166360"/>
            <a:ext cx="9509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E2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72200" y="5166360"/>
            <a:ext cx="768096" cy="347472"/>
          </a:xfrm>
          <a:prstGeom prst="roundRect">
            <a:avLst>
              <a:gd name="adj" fmla="val 50000"/>
            </a:avLst>
          </a:prstGeom>
          <a:solidFill>
            <a:srgbClr val="17304F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5166360"/>
            <a:ext cx="768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E2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068312" y="5166360"/>
            <a:ext cx="950976" cy="347472"/>
          </a:xfrm>
          <a:prstGeom prst="roundRect">
            <a:avLst>
              <a:gd name="adj" fmla="val 50000"/>
            </a:avLst>
          </a:prstGeom>
          <a:solidFill>
            <a:srgbClr val="17304F"/>
          </a:solidFill>
          <a:ln/>
        </p:spPr>
      </p:sp>
      <p:sp>
        <p:nvSpPr>
          <p:cNvPr id="22" name="Text 20"/>
          <p:cNvSpPr/>
          <p:nvPr/>
        </p:nvSpPr>
        <p:spPr>
          <a:xfrm>
            <a:off x="7068312" y="5166360"/>
            <a:ext cx="9509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E2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Airflow</a:t>
            </a:r>
            <a:endParaRPr lang="en-US" sz="950" dirty="0"/>
          </a:p>
        </p:txBody>
      </p:sp>
      <p:pic>
        <p:nvPicPr>
          <p:cNvPr id="23" name="Image 0" descr="/home/claude/icons/users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89320"/>
            <a:ext cx="237744" cy="23774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78408" y="596188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4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Data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2084832" y="594360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1300" dirty="0"/>
          </a:p>
        </p:txBody>
      </p:sp>
      <p:pic>
        <p:nvPicPr>
          <p:cNvPr id="26" name="Image 1" descr="/home/claude/icons/barchart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288" y="5989320"/>
            <a:ext cx="237744" cy="237744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2596896" y="596188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4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3703320" y="594360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1300" dirty="0"/>
          </a:p>
        </p:txBody>
      </p:sp>
      <p:pic>
        <p:nvPicPr>
          <p:cNvPr id="29" name="Image 2" descr="/home/claude/icons/cpu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2776" y="5989320"/>
            <a:ext cx="237744" cy="237744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4215384" y="596188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4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Machine Learning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5321808" y="594360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1300" dirty="0"/>
          </a:p>
        </p:txBody>
      </p:sp>
      <p:pic>
        <p:nvPicPr>
          <p:cNvPr id="32" name="Image 3" descr="/home/claude/icons/alert_or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1264" y="5989320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833872" y="596188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4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6940296" y="594360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1300" dirty="0"/>
          </a:p>
        </p:txBody>
      </p:sp>
      <p:pic>
        <p:nvPicPr>
          <p:cNvPr id="35" name="Image 4" descr="/home/claude/icons/target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9752" y="5989320"/>
            <a:ext cx="237744" cy="23774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452360" y="596188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4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Action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8549640" y="1234440"/>
            <a:ext cx="3017520" cy="4617720"/>
          </a:xfrm>
          <a:prstGeom prst="roundRect">
            <a:avLst>
              <a:gd name="adj" fmla="val 2424"/>
            </a:avLst>
          </a:prstGeom>
          <a:solidFill>
            <a:srgbClr val="102641"/>
          </a:solidFill>
          <a:ln w="12700">
            <a:solidFill>
              <a:srgbClr val="24446C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8549640" y="1234440"/>
            <a:ext cx="3017520" cy="420624"/>
          </a:xfrm>
          <a:prstGeom prst="rect">
            <a:avLst/>
          </a:prstGeom>
          <a:solidFill>
            <a:srgbClr val="0E2238"/>
          </a:solidFill>
          <a:ln/>
        </p:spPr>
      </p:sp>
      <p:pic>
        <p:nvPicPr>
          <p:cNvPr id="39" name="Image 5" descr="/home/claude/icons/piechart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4232" y="1325880"/>
            <a:ext cx="237744" cy="237744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9025128" y="13075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Churn Intelligence</a:t>
            </a:r>
            <a:endParaRPr lang="en-US" sz="1100" dirty="0"/>
          </a:p>
        </p:txBody>
      </p:sp>
      <p:sp>
        <p:nvSpPr>
          <p:cNvPr id="41" name="Shape 33"/>
          <p:cNvSpPr/>
          <p:nvPr/>
        </p:nvSpPr>
        <p:spPr>
          <a:xfrm>
            <a:off x="8714232" y="1828800"/>
            <a:ext cx="1261872" cy="777240"/>
          </a:xfrm>
          <a:prstGeom prst="roundRect">
            <a:avLst>
              <a:gd name="adj" fmla="val 7059"/>
            </a:avLst>
          </a:prstGeom>
          <a:solidFill>
            <a:srgbClr val="17304F"/>
          </a:solidFill>
          <a:ln w="12700">
            <a:solidFill>
              <a:srgbClr val="24446C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8714232" y="1920240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7,043</a:t>
            </a:r>
            <a:endParaRPr lang="en-US" sz="1900" dirty="0"/>
          </a:p>
        </p:txBody>
      </p:sp>
      <p:sp>
        <p:nvSpPr>
          <p:cNvPr id="43" name="Text 35"/>
          <p:cNvSpPr/>
          <p:nvPr/>
        </p:nvSpPr>
        <p:spPr>
          <a:xfrm>
            <a:off x="8714232" y="2304288"/>
            <a:ext cx="1261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9B9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Customers</a:t>
            </a:r>
            <a:endParaRPr lang="en-US" sz="850" dirty="0"/>
          </a:p>
        </p:txBody>
      </p:sp>
      <p:sp>
        <p:nvSpPr>
          <p:cNvPr id="44" name="Shape 36"/>
          <p:cNvSpPr/>
          <p:nvPr/>
        </p:nvSpPr>
        <p:spPr>
          <a:xfrm>
            <a:off x="10140696" y="1828800"/>
            <a:ext cx="1261872" cy="777240"/>
          </a:xfrm>
          <a:prstGeom prst="roundRect">
            <a:avLst>
              <a:gd name="adj" fmla="val 7059"/>
            </a:avLst>
          </a:prstGeom>
          <a:solidFill>
            <a:srgbClr val="17304F"/>
          </a:solidFill>
          <a:ln w="12700">
            <a:solidFill>
              <a:srgbClr val="24446C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10140696" y="1920240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27%</a:t>
            </a:r>
            <a:endParaRPr lang="en-US" sz="1900" dirty="0"/>
          </a:p>
        </p:txBody>
      </p:sp>
      <p:sp>
        <p:nvSpPr>
          <p:cNvPr id="46" name="Text 38"/>
          <p:cNvSpPr/>
          <p:nvPr/>
        </p:nvSpPr>
        <p:spPr>
          <a:xfrm>
            <a:off x="10140696" y="2304288"/>
            <a:ext cx="1261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9B9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Churn Rate</a:t>
            </a:r>
            <a:endParaRPr lang="en-US" sz="850" dirty="0"/>
          </a:p>
        </p:txBody>
      </p:sp>
      <p:graphicFrame>
        <p:nvGraphicFramePr>
          <p:cNvPr id="47" name="Chart 0" descr=""/>
          <p:cNvGraphicFramePr/>
          <p:nvPr/>
        </p:nvGraphicFramePr>
        <p:xfrm>
          <a:off x="8869680" y="2788920"/>
          <a:ext cx="237744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48" name="Text 39"/>
          <p:cNvSpPr/>
          <p:nvPr/>
        </p:nvSpPr>
        <p:spPr>
          <a:xfrm>
            <a:off x="8714232" y="44805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F93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HIGH-RISK SEGMENTS</a:t>
            </a:r>
            <a:endParaRPr lang="en-US" sz="750" dirty="0"/>
          </a:p>
        </p:txBody>
      </p:sp>
      <p:sp>
        <p:nvSpPr>
          <p:cNvPr id="49" name="Shape 40"/>
          <p:cNvSpPr/>
          <p:nvPr/>
        </p:nvSpPr>
        <p:spPr>
          <a:xfrm>
            <a:off x="8714232" y="4718304"/>
            <a:ext cx="2688336" cy="91440"/>
          </a:xfrm>
          <a:prstGeom prst="rect">
            <a:avLst/>
          </a:prstGeom>
          <a:solidFill>
            <a:srgbClr val="1C3A5C"/>
          </a:solidFill>
          <a:ln/>
        </p:spPr>
      </p:sp>
      <p:sp>
        <p:nvSpPr>
          <p:cNvPr id="50" name="Shape 41"/>
          <p:cNvSpPr/>
          <p:nvPr/>
        </p:nvSpPr>
        <p:spPr>
          <a:xfrm>
            <a:off x="8714232" y="4718304"/>
            <a:ext cx="2419502" cy="9144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51" name="Text 42"/>
          <p:cNvSpPr/>
          <p:nvPr/>
        </p:nvSpPr>
        <p:spPr>
          <a:xfrm>
            <a:off x="8714232" y="4818888"/>
            <a:ext cx="26883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3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Month-to-month</a:t>
            </a:r>
            <a:endParaRPr lang="en-US" sz="700" dirty="0"/>
          </a:p>
        </p:txBody>
      </p:sp>
      <p:sp>
        <p:nvSpPr>
          <p:cNvPr id="52" name="Shape 43"/>
          <p:cNvSpPr/>
          <p:nvPr/>
        </p:nvSpPr>
        <p:spPr>
          <a:xfrm>
            <a:off x="8714232" y="5010912"/>
            <a:ext cx="2688336" cy="91440"/>
          </a:xfrm>
          <a:prstGeom prst="rect">
            <a:avLst/>
          </a:prstGeom>
          <a:solidFill>
            <a:srgbClr val="1C3A5C"/>
          </a:solidFill>
          <a:ln/>
        </p:spPr>
      </p:sp>
      <p:sp>
        <p:nvSpPr>
          <p:cNvPr id="53" name="Shape 44"/>
          <p:cNvSpPr/>
          <p:nvPr/>
        </p:nvSpPr>
        <p:spPr>
          <a:xfrm>
            <a:off x="8714232" y="5010912"/>
            <a:ext cx="1747418" cy="91440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54" name="Text 45"/>
          <p:cNvSpPr/>
          <p:nvPr/>
        </p:nvSpPr>
        <p:spPr>
          <a:xfrm>
            <a:off x="8714232" y="5111496"/>
            <a:ext cx="26883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3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Fiber optic</a:t>
            </a:r>
            <a:endParaRPr lang="en-US" sz="700" dirty="0"/>
          </a:p>
        </p:txBody>
      </p:sp>
      <p:sp>
        <p:nvSpPr>
          <p:cNvPr id="55" name="Shape 46"/>
          <p:cNvSpPr/>
          <p:nvPr/>
        </p:nvSpPr>
        <p:spPr>
          <a:xfrm>
            <a:off x="8714232" y="5303520"/>
            <a:ext cx="2688336" cy="91440"/>
          </a:xfrm>
          <a:prstGeom prst="rect">
            <a:avLst/>
          </a:prstGeom>
          <a:solidFill>
            <a:srgbClr val="1C3A5C"/>
          </a:solidFill>
          <a:ln/>
        </p:spPr>
      </p:sp>
      <p:sp>
        <p:nvSpPr>
          <p:cNvPr id="56" name="Shape 47"/>
          <p:cNvSpPr/>
          <p:nvPr/>
        </p:nvSpPr>
        <p:spPr>
          <a:xfrm>
            <a:off x="8714232" y="5303520"/>
            <a:ext cx="1209751" cy="91440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57" name="Text 48"/>
          <p:cNvSpPr/>
          <p:nvPr/>
        </p:nvSpPr>
        <p:spPr>
          <a:xfrm>
            <a:off x="8714232" y="5404104"/>
            <a:ext cx="26883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3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Electronic check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84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155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Customer Data to Retention Intelligence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83112" cy="16459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6565392"/>
            <a:ext cx="11183112" cy="10973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661111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CHURN PREDICTION PLATFORM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972800" y="6611112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12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126187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Telecom organizations need to identify customers who are likely to churn before the customer leaves.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783080"/>
            <a:ext cx="2670048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783080"/>
            <a:ext cx="2670048" cy="4572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1965960"/>
            <a:ext cx="457200" cy="457200"/>
          </a:xfrm>
          <a:prstGeom prst="ellipse">
            <a:avLst/>
          </a:prstGeom>
          <a:solidFill>
            <a:srgbClr val="FDEDEE"/>
          </a:solidFill>
          <a:ln/>
        </p:spPr>
      </p:sp>
      <p:pic>
        <p:nvPicPr>
          <p:cNvPr id="13" name="Image 0" descr="/home/claude/icons/dollar_ri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75688"/>
            <a:ext cx="237744" cy="23774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67512" y="2532888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Risk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67512" y="2807208"/>
            <a:ext cx="23408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churn can negatively impact revenue and customer lifetime value.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337560" y="1783080"/>
            <a:ext cx="2670048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337560" y="1783080"/>
            <a:ext cx="2670048" cy="45720"/>
          </a:xfrm>
          <a:prstGeom prst="rect">
            <a:avLst/>
          </a:prstGeom>
          <a:solidFill>
            <a:srgbClr val="2E6CA8"/>
          </a:solidFill>
          <a:ln/>
        </p:spPr>
      </p:sp>
      <p:sp>
        <p:nvSpPr>
          <p:cNvPr id="18" name="Shape 15"/>
          <p:cNvSpPr/>
          <p:nvPr/>
        </p:nvSpPr>
        <p:spPr>
          <a:xfrm>
            <a:off x="3502152" y="1965960"/>
            <a:ext cx="457200" cy="457200"/>
          </a:xfrm>
          <a:prstGeom prst="ellipse">
            <a:avLst/>
          </a:prstGeom>
          <a:solidFill>
            <a:srgbClr val="E6F7F6"/>
          </a:solidFill>
          <a:ln/>
        </p:spPr>
      </p:sp>
      <p:pic>
        <p:nvPicPr>
          <p:cNvPr id="19" name="Image 1" descr="/home/claude/icons/clock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2075688"/>
            <a:ext cx="237744" cy="23774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502152" y="2532888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 Identification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3502152" y="2807208"/>
            <a:ext cx="23408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analysis may surface churn patterns only after the customer has gone inactive.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6172200" y="1783080"/>
            <a:ext cx="2670048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172200" y="1783080"/>
            <a:ext cx="2670048" cy="45720"/>
          </a:xfrm>
          <a:prstGeom prst="rect">
            <a:avLst/>
          </a:prstGeom>
          <a:solidFill>
            <a:srgbClr val="2E6CA8"/>
          </a:solidFill>
          <a:ln/>
        </p:spPr>
      </p:sp>
      <p:sp>
        <p:nvSpPr>
          <p:cNvPr id="24" name="Shape 20"/>
          <p:cNvSpPr/>
          <p:nvPr/>
        </p:nvSpPr>
        <p:spPr>
          <a:xfrm>
            <a:off x="6336792" y="1965960"/>
            <a:ext cx="457200" cy="457200"/>
          </a:xfrm>
          <a:prstGeom prst="ellipse">
            <a:avLst/>
          </a:prstGeom>
          <a:solidFill>
            <a:srgbClr val="E6F7F6"/>
          </a:solidFill>
          <a:ln/>
        </p:spPr>
      </p:sp>
      <p:pic>
        <p:nvPicPr>
          <p:cNvPr id="25" name="Image 2" descr="/home/claude/icons/users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075688"/>
            <a:ext cx="237744" cy="23774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336792" y="2532888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Large Customer Base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6336792" y="2807208"/>
            <a:ext cx="23408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identification of high-risk customers is difficult to perform at scale.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9006840" y="1783080"/>
            <a:ext cx="2670048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9006840" y="1783080"/>
            <a:ext cx="2670048" cy="45720"/>
          </a:xfrm>
          <a:prstGeom prst="rect">
            <a:avLst/>
          </a:prstGeom>
          <a:solidFill>
            <a:srgbClr val="2E6CA8"/>
          </a:solidFill>
          <a:ln/>
        </p:spPr>
      </p:sp>
      <p:sp>
        <p:nvSpPr>
          <p:cNvPr id="30" name="Shape 25"/>
          <p:cNvSpPr/>
          <p:nvPr/>
        </p:nvSpPr>
        <p:spPr>
          <a:xfrm>
            <a:off x="9171432" y="1965960"/>
            <a:ext cx="457200" cy="457200"/>
          </a:xfrm>
          <a:prstGeom prst="ellipse">
            <a:avLst/>
          </a:prstGeom>
          <a:solidFill>
            <a:srgbClr val="E6F7F6"/>
          </a:solidFill>
          <a:ln/>
        </p:spPr>
      </p:sp>
      <p:pic>
        <p:nvPicPr>
          <p:cNvPr id="31" name="Image 3" descr="/home/claude/icons/search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2075688"/>
            <a:ext cx="237744" cy="23774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171432" y="2532888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Limited Actionability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9171432" y="2807208"/>
            <a:ext cx="23408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Raw customer data alone does not directly provide retention priorities.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502920" y="3703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B84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RISK FUNNEL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502920" y="4041648"/>
            <a:ext cx="1920240" cy="960120"/>
          </a:xfrm>
          <a:prstGeom prst="roundRect">
            <a:avLst>
              <a:gd name="adj" fmla="val 6667"/>
            </a:avLst>
          </a:prstGeom>
          <a:solidFill>
            <a:srgbClr val="2E6CA8"/>
          </a:solidFill>
          <a:ln/>
        </p:spPr>
      </p:sp>
      <p:pic>
        <p:nvPicPr>
          <p:cNvPr id="36" name="Image 4" descr="/home/claude/icons/user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4206240"/>
            <a:ext cx="274320" cy="27432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996696" y="4169664"/>
            <a:ext cx="1298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</a:t>
            </a:r>
            <a:endParaRPr lang="en-US" sz="1150" dirty="0"/>
          </a:p>
        </p:txBody>
      </p:sp>
      <p:sp>
        <p:nvSpPr>
          <p:cNvPr id="38" name="Text 31"/>
          <p:cNvSpPr/>
          <p:nvPr/>
        </p:nvSpPr>
        <p:spPr>
          <a:xfrm>
            <a:off x="2423160" y="4247388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Shape 32"/>
          <p:cNvSpPr/>
          <p:nvPr/>
        </p:nvSpPr>
        <p:spPr>
          <a:xfrm>
            <a:off x="2587752" y="4041648"/>
            <a:ext cx="1920240" cy="960120"/>
          </a:xfrm>
          <a:prstGeom prst="roundRect">
            <a:avLst>
              <a:gd name="adj" fmla="val 6667"/>
            </a:avLst>
          </a:prstGeom>
          <a:solidFill>
            <a:srgbClr val="2E6CA8"/>
          </a:solidFill>
          <a:ln/>
        </p:spPr>
      </p:sp>
      <p:pic>
        <p:nvPicPr>
          <p:cNvPr id="40" name="Image 5" descr="/home/claude/icons/activity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34056" y="4206240"/>
            <a:ext cx="274320" cy="27432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3081528" y="4169664"/>
            <a:ext cx="1298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Behaviour</a:t>
            </a:r>
            <a:endParaRPr lang="en-US" sz="1150" dirty="0"/>
          </a:p>
        </p:txBody>
      </p:sp>
      <p:sp>
        <p:nvSpPr>
          <p:cNvPr id="42" name="Text 34"/>
          <p:cNvSpPr/>
          <p:nvPr/>
        </p:nvSpPr>
        <p:spPr>
          <a:xfrm>
            <a:off x="4507992" y="4247388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43" name="Shape 35"/>
          <p:cNvSpPr/>
          <p:nvPr/>
        </p:nvSpPr>
        <p:spPr>
          <a:xfrm>
            <a:off x="4672584" y="4041648"/>
            <a:ext cx="1920240" cy="960120"/>
          </a:xfrm>
          <a:prstGeom prst="roundRect">
            <a:avLst>
              <a:gd name="adj" fmla="val 6667"/>
            </a:avLst>
          </a:prstGeom>
          <a:solidFill>
            <a:srgbClr val="0B8482"/>
          </a:solidFill>
          <a:ln/>
        </p:spPr>
      </p:sp>
      <p:pic>
        <p:nvPicPr>
          <p:cNvPr id="44" name="Image 6" descr="/home/claude/icons/search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8888" y="4206240"/>
            <a:ext cx="274320" cy="27432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5166360" y="4169664"/>
            <a:ext cx="1298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Detection</a:t>
            </a:r>
            <a:endParaRPr lang="en-US" sz="1150" dirty="0"/>
          </a:p>
        </p:txBody>
      </p:sp>
      <p:sp>
        <p:nvSpPr>
          <p:cNvPr id="46" name="Text 37"/>
          <p:cNvSpPr/>
          <p:nvPr/>
        </p:nvSpPr>
        <p:spPr>
          <a:xfrm>
            <a:off x="6592824" y="4247388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47" name="Shape 38"/>
          <p:cNvSpPr/>
          <p:nvPr/>
        </p:nvSpPr>
        <p:spPr>
          <a:xfrm>
            <a:off x="6757416" y="4041648"/>
            <a:ext cx="1920240" cy="960120"/>
          </a:xfrm>
          <a:prstGeom prst="roundRect">
            <a:avLst>
              <a:gd name="adj" fmla="val 6667"/>
            </a:avLst>
          </a:prstGeom>
          <a:solidFill>
            <a:srgbClr val="D7263D"/>
          </a:solidFill>
          <a:ln/>
        </p:spPr>
      </p:sp>
      <p:pic>
        <p:nvPicPr>
          <p:cNvPr id="48" name="Image 7" descr="/home/claude/icons/alert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3720" y="4206240"/>
            <a:ext cx="274320" cy="274320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7251192" y="4169664"/>
            <a:ext cx="1298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High-Risk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Customers</a:t>
            </a:r>
            <a:endParaRPr lang="en-US" sz="1150" dirty="0"/>
          </a:p>
        </p:txBody>
      </p:sp>
      <p:sp>
        <p:nvSpPr>
          <p:cNvPr id="50" name="Text 40"/>
          <p:cNvSpPr/>
          <p:nvPr/>
        </p:nvSpPr>
        <p:spPr>
          <a:xfrm>
            <a:off x="8677656" y="4247388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51" name="Shape 41"/>
          <p:cNvSpPr/>
          <p:nvPr/>
        </p:nvSpPr>
        <p:spPr>
          <a:xfrm>
            <a:off x="8842248" y="4041648"/>
            <a:ext cx="1920240" cy="960120"/>
          </a:xfrm>
          <a:prstGeom prst="roundRect">
            <a:avLst>
              <a:gd name="adj" fmla="val 6667"/>
            </a:avLst>
          </a:prstGeom>
          <a:solidFill>
            <a:srgbClr val="B8860B"/>
          </a:solidFill>
          <a:ln/>
        </p:spPr>
      </p:sp>
      <p:pic>
        <p:nvPicPr>
          <p:cNvPr id="52" name="Image 8" descr="/home/claude/icons/target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88552" y="4206240"/>
            <a:ext cx="274320" cy="274320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9336024" y="4169664"/>
            <a:ext cx="1298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Retention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</a:t>
            </a:r>
            <a:endParaRPr lang="en-US" sz="1150" dirty="0"/>
          </a:p>
        </p:txBody>
      </p:sp>
      <p:sp>
        <p:nvSpPr>
          <p:cNvPr id="54" name="Shape 43"/>
          <p:cNvSpPr/>
          <p:nvPr/>
        </p:nvSpPr>
        <p:spPr>
          <a:xfrm>
            <a:off x="502920" y="5257800"/>
            <a:ext cx="54864" cy="868680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55" name="Shape 44"/>
          <p:cNvSpPr/>
          <p:nvPr/>
        </p:nvSpPr>
        <p:spPr>
          <a:xfrm>
            <a:off x="557784" y="5257800"/>
            <a:ext cx="11128248" cy="8686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56" name="Text 45"/>
          <p:cNvSpPr/>
          <p:nvPr/>
        </p:nvSpPr>
        <p:spPr>
          <a:xfrm>
            <a:off x="822960" y="545896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goal is not simply to predict churn — it is to identify actionable customer risk.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84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155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Customer Churn Intelligence Architecture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83112" cy="16459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6565392"/>
            <a:ext cx="11183112" cy="10973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661111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CHURN PREDICTION PLATFORM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972800" y="6611112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12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02920" y="1298448"/>
            <a:ext cx="11125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2E6C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298448"/>
            <a:ext cx="1112520" cy="45720"/>
          </a:xfrm>
          <a:prstGeom prst="rect">
            <a:avLst/>
          </a:prstGeom>
          <a:solidFill>
            <a:srgbClr val="2E6CA8"/>
          </a:solidFill>
          <a:ln/>
        </p:spPr>
      </p:sp>
      <p:pic>
        <p:nvPicPr>
          <p:cNvPr id="11" name="Image 0" descr="/home/claude/icons/database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732" y="1426464"/>
            <a:ext cx="310896" cy="31089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" y="1773936"/>
            <a:ext cx="102108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615440" y="1504188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761744" y="1298448"/>
            <a:ext cx="11125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2E6CA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761744" y="1298448"/>
            <a:ext cx="1112520" cy="45720"/>
          </a:xfrm>
          <a:prstGeom prst="rect">
            <a:avLst/>
          </a:prstGeom>
          <a:solidFill>
            <a:srgbClr val="2E6CA8"/>
          </a:solidFill>
          <a:ln/>
        </p:spPr>
      </p:sp>
      <p:pic>
        <p:nvPicPr>
          <p:cNvPr id="16" name="Image 1" descr="/home/claude/icons/validation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556" y="1426464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807464" y="1773936"/>
            <a:ext cx="102108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2874264" y="1504188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3020568" y="1298448"/>
            <a:ext cx="11125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2E6CA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020568" y="1298448"/>
            <a:ext cx="1112520" cy="45720"/>
          </a:xfrm>
          <a:prstGeom prst="rect">
            <a:avLst/>
          </a:prstGeom>
          <a:solidFill>
            <a:srgbClr val="2E6CA8"/>
          </a:solidFill>
          <a:ln/>
        </p:spPr>
      </p:sp>
      <p:pic>
        <p:nvPicPr>
          <p:cNvPr id="21" name="Image 2" descr="/home/claude/icons/etl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1380" y="1426464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066288" y="1773936"/>
            <a:ext cx="102108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Curation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4133088" y="1504188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4279392" y="1298448"/>
            <a:ext cx="11125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0B848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279392" y="1298448"/>
            <a:ext cx="1112520" cy="45720"/>
          </a:xfrm>
          <a:prstGeom prst="rect">
            <a:avLst/>
          </a:prstGeom>
          <a:solidFill>
            <a:srgbClr val="0B8482"/>
          </a:solidFill>
          <a:ln/>
        </p:spPr>
      </p:sp>
      <p:pic>
        <p:nvPicPr>
          <p:cNvPr id="26" name="Image 3" descr="/home/claude/icons/sliders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204" y="1426464"/>
            <a:ext cx="310896" cy="31089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325112" y="1773936"/>
            <a:ext cx="102108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Engineering</a:t>
            </a:r>
            <a:endParaRPr lang="en-US" sz="850" dirty="0"/>
          </a:p>
        </p:txBody>
      </p:sp>
      <p:sp>
        <p:nvSpPr>
          <p:cNvPr id="28" name="Text 22"/>
          <p:cNvSpPr/>
          <p:nvPr/>
        </p:nvSpPr>
        <p:spPr>
          <a:xfrm>
            <a:off x="5391912" y="1504188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3"/>
          <p:cNvSpPr/>
          <p:nvPr/>
        </p:nvSpPr>
        <p:spPr>
          <a:xfrm>
            <a:off x="5538216" y="1298448"/>
            <a:ext cx="11125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0B8482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5538216" y="1298448"/>
            <a:ext cx="1112520" cy="45720"/>
          </a:xfrm>
          <a:prstGeom prst="rect">
            <a:avLst/>
          </a:prstGeom>
          <a:solidFill>
            <a:srgbClr val="0B8482"/>
          </a:solidFill>
          <a:ln/>
        </p:spPr>
      </p:sp>
      <p:pic>
        <p:nvPicPr>
          <p:cNvPr id="31" name="Image 4" descr="/home/claude/icons/cpu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028" y="1426464"/>
            <a:ext cx="310896" cy="31089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583936" y="1773936"/>
            <a:ext cx="102108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Machine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Learning</a:t>
            </a:r>
            <a:endParaRPr lang="en-US" sz="850" dirty="0"/>
          </a:p>
        </p:txBody>
      </p:sp>
      <p:sp>
        <p:nvSpPr>
          <p:cNvPr id="33" name="Text 26"/>
          <p:cNvSpPr/>
          <p:nvPr/>
        </p:nvSpPr>
        <p:spPr>
          <a:xfrm>
            <a:off x="6650736" y="1504188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27"/>
          <p:cNvSpPr/>
          <p:nvPr/>
        </p:nvSpPr>
        <p:spPr>
          <a:xfrm>
            <a:off x="6797040" y="1298448"/>
            <a:ext cx="11125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797040" y="1298448"/>
            <a:ext cx="1112520" cy="45720"/>
          </a:xfrm>
          <a:prstGeom prst="rect">
            <a:avLst/>
          </a:prstGeom>
          <a:solidFill>
            <a:srgbClr val="E8590C"/>
          </a:solidFill>
          <a:ln/>
        </p:spPr>
      </p:sp>
      <p:pic>
        <p:nvPicPr>
          <p:cNvPr id="36" name="Image 5" descr="/home/claude/icons/alert_oran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7852" y="1426464"/>
            <a:ext cx="310896" cy="31089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842760" y="1773936"/>
            <a:ext cx="102108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Scoring</a:t>
            </a:r>
            <a:endParaRPr lang="en-US" sz="850" dirty="0"/>
          </a:p>
        </p:txBody>
      </p:sp>
      <p:sp>
        <p:nvSpPr>
          <p:cNvPr id="38" name="Text 30"/>
          <p:cNvSpPr/>
          <p:nvPr/>
        </p:nvSpPr>
        <p:spPr>
          <a:xfrm>
            <a:off x="7909560" y="1504188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Shape 31"/>
          <p:cNvSpPr/>
          <p:nvPr/>
        </p:nvSpPr>
        <p:spPr>
          <a:xfrm>
            <a:off x="8055864" y="1298448"/>
            <a:ext cx="11125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B3A63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8055864" y="1298448"/>
            <a:ext cx="1112520" cy="45720"/>
          </a:xfrm>
          <a:prstGeom prst="rect">
            <a:avLst/>
          </a:prstGeom>
          <a:solidFill>
            <a:srgbClr val="1B3A63"/>
          </a:solidFill>
          <a:ln/>
        </p:spPr>
      </p:sp>
      <p:pic>
        <p:nvPicPr>
          <p:cNvPr id="41" name="Image 6" descr="/home/claude/icons/server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6676" y="1426464"/>
            <a:ext cx="310896" cy="310896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8101584" y="1773936"/>
            <a:ext cx="102108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</a:t>
            </a:r>
            <a:endParaRPr lang="en-US" sz="850" dirty="0"/>
          </a:p>
        </p:txBody>
      </p:sp>
      <p:sp>
        <p:nvSpPr>
          <p:cNvPr id="43" name="Text 34"/>
          <p:cNvSpPr/>
          <p:nvPr/>
        </p:nvSpPr>
        <p:spPr>
          <a:xfrm>
            <a:off x="9168384" y="1504188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44" name="Shape 35"/>
          <p:cNvSpPr/>
          <p:nvPr/>
        </p:nvSpPr>
        <p:spPr>
          <a:xfrm>
            <a:off x="9314688" y="1298448"/>
            <a:ext cx="11125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B3A63"/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9314688" y="1298448"/>
            <a:ext cx="1112520" cy="45720"/>
          </a:xfrm>
          <a:prstGeom prst="rect">
            <a:avLst/>
          </a:prstGeom>
          <a:solidFill>
            <a:srgbClr val="1B3A63"/>
          </a:solidFill>
          <a:ln/>
        </p:spPr>
      </p:sp>
      <p:pic>
        <p:nvPicPr>
          <p:cNvPr id="46" name="Image 7" descr="/home/claude/icons/monitor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15500" y="1426464"/>
            <a:ext cx="310896" cy="310896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9360408" y="1773936"/>
            <a:ext cx="102108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</a:t>
            </a:r>
            <a:endParaRPr lang="en-US" sz="850" dirty="0"/>
          </a:p>
        </p:txBody>
      </p:sp>
      <p:sp>
        <p:nvSpPr>
          <p:cNvPr id="48" name="Text 38"/>
          <p:cNvSpPr/>
          <p:nvPr/>
        </p:nvSpPr>
        <p:spPr>
          <a:xfrm>
            <a:off x="10427208" y="1504188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49" name="Shape 39"/>
          <p:cNvSpPr/>
          <p:nvPr/>
        </p:nvSpPr>
        <p:spPr>
          <a:xfrm>
            <a:off x="10573512" y="1298448"/>
            <a:ext cx="11125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0" name="Shape 40"/>
          <p:cNvSpPr/>
          <p:nvPr/>
        </p:nvSpPr>
        <p:spPr>
          <a:xfrm>
            <a:off x="10573512" y="1298448"/>
            <a:ext cx="1112520" cy="45720"/>
          </a:xfrm>
          <a:prstGeom prst="rect">
            <a:avLst/>
          </a:prstGeom>
          <a:solidFill>
            <a:srgbClr val="B8860B"/>
          </a:solidFill>
          <a:ln/>
        </p:spPr>
      </p:sp>
      <p:pic>
        <p:nvPicPr>
          <p:cNvPr id="51" name="Image 8" descr="/home/claude/icons/users_gol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74324" y="1426464"/>
            <a:ext cx="310896" cy="310896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10619232" y="1773936"/>
            <a:ext cx="102108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</a:t>
            </a:r>
            <a:endParaRPr lang="en-US" sz="850" dirty="0"/>
          </a:p>
        </p:txBody>
      </p:sp>
      <p:sp>
        <p:nvSpPr>
          <p:cNvPr id="53" name="Shape 42"/>
          <p:cNvSpPr/>
          <p:nvPr/>
        </p:nvSpPr>
        <p:spPr>
          <a:xfrm>
            <a:off x="502920" y="2331720"/>
            <a:ext cx="3630168" cy="32004"/>
          </a:xfrm>
          <a:prstGeom prst="rect">
            <a:avLst/>
          </a:prstGeom>
          <a:solidFill>
            <a:srgbClr val="2E6CA8"/>
          </a:solidFill>
          <a:ln/>
        </p:spPr>
      </p:sp>
      <p:sp>
        <p:nvSpPr>
          <p:cNvPr id="54" name="Text 43"/>
          <p:cNvSpPr/>
          <p:nvPr/>
        </p:nvSpPr>
        <p:spPr>
          <a:xfrm>
            <a:off x="502920" y="2386584"/>
            <a:ext cx="3630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E6C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LAYER</a:t>
            </a:r>
            <a:endParaRPr lang="en-US" sz="850" dirty="0"/>
          </a:p>
        </p:txBody>
      </p:sp>
      <p:sp>
        <p:nvSpPr>
          <p:cNvPr id="55" name="Shape 44"/>
          <p:cNvSpPr/>
          <p:nvPr/>
        </p:nvSpPr>
        <p:spPr>
          <a:xfrm>
            <a:off x="4279392" y="2331720"/>
            <a:ext cx="3630168" cy="32004"/>
          </a:xfrm>
          <a:prstGeom prst="rect">
            <a:avLst/>
          </a:prstGeom>
          <a:solidFill>
            <a:srgbClr val="0B8482"/>
          </a:solidFill>
          <a:ln/>
        </p:spPr>
      </p:sp>
      <p:sp>
        <p:nvSpPr>
          <p:cNvPr id="56" name="Text 45"/>
          <p:cNvSpPr/>
          <p:nvPr/>
        </p:nvSpPr>
        <p:spPr>
          <a:xfrm>
            <a:off x="4279392" y="2386584"/>
            <a:ext cx="3630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B84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INTELLIGENCE LAYER</a:t>
            </a:r>
            <a:endParaRPr lang="en-US" sz="850" dirty="0"/>
          </a:p>
        </p:txBody>
      </p:sp>
      <p:sp>
        <p:nvSpPr>
          <p:cNvPr id="57" name="Shape 46"/>
          <p:cNvSpPr/>
          <p:nvPr/>
        </p:nvSpPr>
        <p:spPr>
          <a:xfrm>
            <a:off x="8055864" y="2331720"/>
            <a:ext cx="2371344" cy="32004"/>
          </a:xfrm>
          <a:prstGeom prst="rect">
            <a:avLst/>
          </a:prstGeom>
          <a:solidFill>
            <a:srgbClr val="1B3A63"/>
          </a:solidFill>
          <a:ln/>
        </p:spPr>
      </p:sp>
      <p:sp>
        <p:nvSpPr>
          <p:cNvPr id="58" name="Text 47"/>
          <p:cNvSpPr/>
          <p:nvPr/>
        </p:nvSpPr>
        <p:spPr>
          <a:xfrm>
            <a:off x="8055864" y="2386584"/>
            <a:ext cx="2371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1B3A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 LAYER</a:t>
            </a:r>
            <a:endParaRPr lang="en-US" sz="850" dirty="0"/>
          </a:p>
        </p:txBody>
      </p:sp>
      <p:sp>
        <p:nvSpPr>
          <p:cNvPr id="59" name="Shape 48"/>
          <p:cNvSpPr/>
          <p:nvPr/>
        </p:nvSpPr>
        <p:spPr>
          <a:xfrm>
            <a:off x="502920" y="2715768"/>
            <a:ext cx="11183112" cy="512064"/>
          </a:xfrm>
          <a:prstGeom prst="roundRect">
            <a:avLst>
              <a:gd name="adj" fmla="val 10714"/>
            </a:avLst>
          </a:prstGeom>
          <a:solidFill>
            <a:srgbClr val="2B2410"/>
          </a:solidFill>
          <a:ln/>
        </p:spPr>
      </p:sp>
      <p:sp>
        <p:nvSpPr>
          <p:cNvPr id="60" name="Shape 49"/>
          <p:cNvSpPr/>
          <p:nvPr/>
        </p:nvSpPr>
        <p:spPr>
          <a:xfrm>
            <a:off x="502920" y="2715768"/>
            <a:ext cx="45720" cy="512064"/>
          </a:xfrm>
          <a:prstGeom prst="rect">
            <a:avLst/>
          </a:prstGeom>
          <a:solidFill>
            <a:srgbClr val="B8860B"/>
          </a:solidFill>
          <a:ln/>
        </p:spPr>
      </p:sp>
      <p:pic>
        <p:nvPicPr>
          <p:cNvPr id="61" name="Image 9" descr="/home/claude/icons/repeat_gol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2843784"/>
            <a:ext cx="256032" cy="256032"/>
          </a:xfrm>
          <a:prstGeom prst="rect">
            <a:avLst/>
          </a:prstGeom>
        </p:spPr>
      </p:pic>
      <p:sp>
        <p:nvSpPr>
          <p:cNvPr id="62" name="Text 50"/>
          <p:cNvSpPr/>
          <p:nvPr/>
        </p:nvSpPr>
        <p:spPr>
          <a:xfrm>
            <a:off x="1051560" y="2788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C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AUTOMATION LAYER</a:t>
            </a:r>
            <a:endParaRPr lang="en-US" sz="950" dirty="0"/>
          </a:p>
        </p:txBody>
      </p:sp>
      <p:sp>
        <p:nvSpPr>
          <p:cNvPr id="63" name="Shape 51"/>
          <p:cNvSpPr/>
          <p:nvPr/>
        </p:nvSpPr>
        <p:spPr>
          <a:xfrm>
            <a:off x="3611880" y="2825496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4A3A12"/>
          </a:solidFill>
          <a:ln/>
        </p:spPr>
      </p:sp>
      <p:sp>
        <p:nvSpPr>
          <p:cNvPr id="64" name="Text 52"/>
          <p:cNvSpPr/>
          <p:nvPr/>
        </p:nvSpPr>
        <p:spPr>
          <a:xfrm>
            <a:off x="3611880" y="282549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DD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Airflow</a:t>
            </a:r>
            <a:endParaRPr lang="en-US" sz="900" dirty="0"/>
          </a:p>
        </p:txBody>
      </p:sp>
      <p:sp>
        <p:nvSpPr>
          <p:cNvPr id="65" name="Text 53"/>
          <p:cNvSpPr/>
          <p:nvPr/>
        </p:nvSpPr>
        <p:spPr>
          <a:xfrm>
            <a:off x="5367528" y="2779776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C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1500" dirty="0"/>
          </a:p>
        </p:txBody>
      </p:sp>
      <p:sp>
        <p:nvSpPr>
          <p:cNvPr id="66" name="Shape 54"/>
          <p:cNvSpPr/>
          <p:nvPr/>
        </p:nvSpPr>
        <p:spPr>
          <a:xfrm>
            <a:off x="5641848" y="2825496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4A3A12"/>
          </a:solidFill>
          <a:ln/>
        </p:spPr>
      </p:sp>
      <p:sp>
        <p:nvSpPr>
          <p:cNvPr id="67" name="Text 55"/>
          <p:cNvSpPr/>
          <p:nvPr/>
        </p:nvSpPr>
        <p:spPr>
          <a:xfrm>
            <a:off x="5641848" y="282549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DD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Batch Scoring</a:t>
            </a:r>
            <a:endParaRPr lang="en-US" sz="900" dirty="0"/>
          </a:p>
        </p:txBody>
      </p:sp>
      <p:sp>
        <p:nvSpPr>
          <p:cNvPr id="68" name="Text 56"/>
          <p:cNvSpPr/>
          <p:nvPr/>
        </p:nvSpPr>
        <p:spPr>
          <a:xfrm>
            <a:off x="7397496" y="2779776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C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1500" dirty="0"/>
          </a:p>
        </p:txBody>
      </p:sp>
      <p:sp>
        <p:nvSpPr>
          <p:cNvPr id="69" name="Shape 57"/>
          <p:cNvSpPr/>
          <p:nvPr/>
        </p:nvSpPr>
        <p:spPr>
          <a:xfrm>
            <a:off x="7671816" y="2825496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4A3A12"/>
          </a:solidFill>
          <a:ln/>
        </p:spPr>
      </p:sp>
      <p:sp>
        <p:nvSpPr>
          <p:cNvPr id="70" name="Text 58"/>
          <p:cNvSpPr/>
          <p:nvPr/>
        </p:nvSpPr>
        <p:spPr>
          <a:xfrm>
            <a:off x="7671816" y="282549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DD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Scheduled Workflows</a:t>
            </a:r>
            <a:endParaRPr lang="en-US" sz="900" dirty="0"/>
          </a:p>
        </p:txBody>
      </p:sp>
      <p:sp>
        <p:nvSpPr>
          <p:cNvPr id="71" name="Shape 59"/>
          <p:cNvSpPr/>
          <p:nvPr/>
        </p:nvSpPr>
        <p:spPr>
          <a:xfrm>
            <a:off x="4762500" y="2715768"/>
            <a:ext cx="0" cy="-384048"/>
          </a:xfrm>
          <a:prstGeom prst="line">
            <a:avLst/>
          </a:prstGeom>
          <a:noFill/>
          <a:ln w="15875">
            <a:solidFill>
              <a:srgbClr val="B8860B"/>
            </a:solidFill>
            <a:prstDash val="dash"/>
            <a:tailEnd type="triangle"/>
          </a:ln>
        </p:spPr>
      </p:sp>
      <p:sp>
        <p:nvSpPr>
          <p:cNvPr id="72" name="Shape 60"/>
          <p:cNvSpPr/>
          <p:nvPr/>
        </p:nvSpPr>
        <p:spPr>
          <a:xfrm>
            <a:off x="502920" y="3502152"/>
            <a:ext cx="2658618" cy="2514600"/>
          </a:xfrm>
          <a:prstGeom prst="roundRect">
            <a:avLst>
              <a:gd name="adj" fmla="val 2182"/>
            </a:avLst>
          </a:prstGeom>
          <a:solidFill>
            <a:srgbClr val="F5F7FA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73" name="Shape 61"/>
          <p:cNvSpPr/>
          <p:nvPr/>
        </p:nvSpPr>
        <p:spPr>
          <a:xfrm>
            <a:off x="502920" y="3502152"/>
            <a:ext cx="2658618" cy="365760"/>
          </a:xfrm>
          <a:prstGeom prst="rect">
            <a:avLst/>
          </a:prstGeom>
          <a:solidFill>
            <a:srgbClr val="2E6CA8"/>
          </a:solidFill>
          <a:ln/>
        </p:spPr>
      </p:sp>
      <p:sp>
        <p:nvSpPr>
          <p:cNvPr id="74" name="Text 62"/>
          <p:cNvSpPr/>
          <p:nvPr/>
        </p:nvSpPr>
        <p:spPr>
          <a:xfrm>
            <a:off x="630936" y="3502152"/>
            <a:ext cx="240258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LAYER</a:t>
            </a:r>
            <a:endParaRPr lang="en-US" sz="1000" dirty="0"/>
          </a:p>
        </p:txBody>
      </p:sp>
      <p:sp>
        <p:nvSpPr>
          <p:cNvPr id="75" name="Shape 63"/>
          <p:cNvSpPr/>
          <p:nvPr/>
        </p:nvSpPr>
        <p:spPr>
          <a:xfrm>
            <a:off x="649224" y="4137660"/>
            <a:ext cx="54864" cy="54864"/>
          </a:xfrm>
          <a:prstGeom prst="ellipse">
            <a:avLst/>
          </a:prstGeom>
          <a:solidFill>
            <a:srgbClr val="2E6CA8"/>
          </a:solidFill>
          <a:ln/>
        </p:spPr>
      </p:sp>
      <p:sp>
        <p:nvSpPr>
          <p:cNvPr id="76" name="Text 64"/>
          <p:cNvSpPr/>
          <p:nvPr/>
        </p:nvSpPr>
        <p:spPr>
          <a:xfrm>
            <a:off x="795528" y="4069080"/>
            <a:ext cx="223799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source data</a:t>
            </a:r>
            <a:endParaRPr lang="en-US" sz="950" dirty="0"/>
          </a:p>
        </p:txBody>
      </p:sp>
      <p:sp>
        <p:nvSpPr>
          <p:cNvPr id="77" name="Shape 65"/>
          <p:cNvSpPr/>
          <p:nvPr/>
        </p:nvSpPr>
        <p:spPr>
          <a:xfrm>
            <a:off x="649224" y="4475988"/>
            <a:ext cx="54864" cy="54864"/>
          </a:xfrm>
          <a:prstGeom prst="ellipse">
            <a:avLst/>
          </a:prstGeom>
          <a:solidFill>
            <a:srgbClr val="2E6CA8"/>
          </a:solidFill>
          <a:ln/>
        </p:spPr>
      </p:sp>
      <p:sp>
        <p:nvSpPr>
          <p:cNvPr id="78" name="Text 66"/>
          <p:cNvSpPr/>
          <p:nvPr/>
        </p:nvSpPr>
        <p:spPr>
          <a:xfrm>
            <a:off x="795528" y="4407408"/>
            <a:ext cx="223799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</a:t>
            </a:r>
            <a:endParaRPr lang="en-US" sz="950" dirty="0"/>
          </a:p>
        </p:txBody>
      </p:sp>
      <p:sp>
        <p:nvSpPr>
          <p:cNvPr id="79" name="Shape 67"/>
          <p:cNvSpPr/>
          <p:nvPr/>
        </p:nvSpPr>
        <p:spPr>
          <a:xfrm>
            <a:off x="649224" y="4814316"/>
            <a:ext cx="54864" cy="54864"/>
          </a:xfrm>
          <a:prstGeom prst="ellipse">
            <a:avLst/>
          </a:prstGeom>
          <a:solidFill>
            <a:srgbClr val="2E6CA8"/>
          </a:solidFill>
          <a:ln/>
        </p:spPr>
      </p:sp>
      <p:sp>
        <p:nvSpPr>
          <p:cNvPr id="80" name="Text 68"/>
          <p:cNvSpPr/>
          <p:nvPr/>
        </p:nvSpPr>
        <p:spPr>
          <a:xfrm>
            <a:off x="795528" y="4745736"/>
            <a:ext cx="223799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validation</a:t>
            </a:r>
            <a:endParaRPr lang="en-US" sz="950" dirty="0"/>
          </a:p>
        </p:txBody>
      </p:sp>
      <p:sp>
        <p:nvSpPr>
          <p:cNvPr id="81" name="Shape 69"/>
          <p:cNvSpPr/>
          <p:nvPr/>
        </p:nvSpPr>
        <p:spPr>
          <a:xfrm>
            <a:off x="649224" y="5152644"/>
            <a:ext cx="54864" cy="54864"/>
          </a:xfrm>
          <a:prstGeom prst="ellipse">
            <a:avLst/>
          </a:prstGeom>
          <a:solidFill>
            <a:srgbClr val="2E6CA8"/>
          </a:solidFill>
          <a:ln/>
        </p:spPr>
      </p:sp>
      <p:sp>
        <p:nvSpPr>
          <p:cNvPr id="82" name="Text 70"/>
          <p:cNvSpPr/>
          <p:nvPr/>
        </p:nvSpPr>
        <p:spPr>
          <a:xfrm>
            <a:off x="795528" y="5084064"/>
            <a:ext cx="223799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cleansing</a:t>
            </a:r>
            <a:endParaRPr lang="en-US" sz="950" dirty="0"/>
          </a:p>
        </p:txBody>
      </p:sp>
      <p:sp>
        <p:nvSpPr>
          <p:cNvPr id="83" name="Shape 71"/>
          <p:cNvSpPr/>
          <p:nvPr/>
        </p:nvSpPr>
        <p:spPr>
          <a:xfrm>
            <a:off x="3344418" y="3502152"/>
            <a:ext cx="2658618" cy="2514600"/>
          </a:xfrm>
          <a:prstGeom prst="roundRect">
            <a:avLst>
              <a:gd name="adj" fmla="val 2182"/>
            </a:avLst>
          </a:prstGeom>
          <a:solidFill>
            <a:srgbClr val="F5F7FA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84" name="Shape 72"/>
          <p:cNvSpPr/>
          <p:nvPr/>
        </p:nvSpPr>
        <p:spPr>
          <a:xfrm>
            <a:off x="3344418" y="3502152"/>
            <a:ext cx="2658618" cy="365760"/>
          </a:xfrm>
          <a:prstGeom prst="rect">
            <a:avLst/>
          </a:prstGeom>
          <a:solidFill>
            <a:srgbClr val="0B8482"/>
          </a:solidFill>
          <a:ln/>
        </p:spPr>
      </p:sp>
      <p:sp>
        <p:nvSpPr>
          <p:cNvPr id="85" name="Text 73"/>
          <p:cNvSpPr/>
          <p:nvPr/>
        </p:nvSpPr>
        <p:spPr>
          <a:xfrm>
            <a:off x="3472434" y="3502152"/>
            <a:ext cx="240258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INTELLIGENCE LAYER</a:t>
            </a:r>
            <a:endParaRPr lang="en-US" sz="1000" dirty="0"/>
          </a:p>
        </p:txBody>
      </p:sp>
      <p:sp>
        <p:nvSpPr>
          <p:cNvPr id="86" name="Shape 74"/>
          <p:cNvSpPr/>
          <p:nvPr/>
        </p:nvSpPr>
        <p:spPr>
          <a:xfrm>
            <a:off x="3490722" y="4137660"/>
            <a:ext cx="54864" cy="54864"/>
          </a:xfrm>
          <a:prstGeom prst="ellipse">
            <a:avLst/>
          </a:prstGeom>
          <a:solidFill>
            <a:srgbClr val="0B8482"/>
          </a:solidFill>
          <a:ln/>
        </p:spPr>
      </p:sp>
      <p:sp>
        <p:nvSpPr>
          <p:cNvPr id="87" name="Text 75"/>
          <p:cNvSpPr/>
          <p:nvPr/>
        </p:nvSpPr>
        <p:spPr>
          <a:xfrm>
            <a:off x="3637026" y="4069080"/>
            <a:ext cx="223799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engineering</a:t>
            </a:r>
            <a:endParaRPr lang="en-US" sz="950" dirty="0"/>
          </a:p>
        </p:txBody>
      </p:sp>
      <p:sp>
        <p:nvSpPr>
          <p:cNvPr id="88" name="Shape 76"/>
          <p:cNvSpPr/>
          <p:nvPr/>
        </p:nvSpPr>
        <p:spPr>
          <a:xfrm>
            <a:off x="3490722" y="4475988"/>
            <a:ext cx="54864" cy="54864"/>
          </a:xfrm>
          <a:prstGeom prst="ellipse">
            <a:avLst/>
          </a:prstGeom>
          <a:solidFill>
            <a:srgbClr val="0B8482"/>
          </a:solidFill>
          <a:ln/>
        </p:spPr>
      </p:sp>
      <p:sp>
        <p:nvSpPr>
          <p:cNvPr id="89" name="Text 77"/>
          <p:cNvSpPr/>
          <p:nvPr/>
        </p:nvSpPr>
        <p:spPr>
          <a:xfrm>
            <a:off x="3637026" y="4407408"/>
            <a:ext cx="223799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 models</a:t>
            </a:r>
            <a:endParaRPr lang="en-US" sz="950" dirty="0"/>
          </a:p>
        </p:txBody>
      </p:sp>
      <p:sp>
        <p:nvSpPr>
          <p:cNvPr id="90" name="Shape 78"/>
          <p:cNvSpPr/>
          <p:nvPr/>
        </p:nvSpPr>
        <p:spPr>
          <a:xfrm>
            <a:off x="3490722" y="4814316"/>
            <a:ext cx="54864" cy="54864"/>
          </a:xfrm>
          <a:prstGeom prst="ellipse">
            <a:avLst/>
          </a:prstGeom>
          <a:solidFill>
            <a:srgbClr val="0B8482"/>
          </a:solidFill>
          <a:ln/>
        </p:spPr>
      </p:sp>
      <p:sp>
        <p:nvSpPr>
          <p:cNvPr id="91" name="Text 79"/>
          <p:cNvSpPr/>
          <p:nvPr/>
        </p:nvSpPr>
        <p:spPr>
          <a:xfrm>
            <a:off x="3637026" y="4745736"/>
            <a:ext cx="223799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Prediction</a:t>
            </a:r>
            <a:endParaRPr lang="en-US" sz="950" dirty="0"/>
          </a:p>
        </p:txBody>
      </p:sp>
      <p:sp>
        <p:nvSpPr>
          <p:cNvPr id="92" name="Shape 80"/>
          <p:cNvSpPr/>
          <p:nvPr/>
        </p:nvSpPr>
        <p:spPr>
          <a:xfrm>
            <a:off x="3490722" y="5152644"/>
            <a:ext cx="54864" cy="54864"/>
          </a:xfrm>
          <a:prstGeom prst="ellipse">
            <a:avLst/>
          </a:prstGeom>
          <a:solidFill>
            <a:srgbClr val="0B8482"/>
          </a:solidFill>
          <a:ln/>
        </p:spPr>
      </p:sp>
      <p:sp>
        <p:nvSpPr>
          <p:cNvPr id="93" name="Text 81"/>
          <p:cNvSpPr/>
          <p:nvPr/>
        </p:nvSpPr>
        <p:spPr>
          <a:xfrm>
            <a:off x="3637026" y="5084064"/>
            <a:ext cx="223799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scoring</a:t>
            </a:r>
            <a:endParaRPr lang="en-US" sz="950" dirty="0"/>
          </a:p>
        </p:txBody>
      </p:sp>
      <p:sp>
        <p:nvSpPr>
          <p:cNvPr id="94" name="Shape 82"/>
          <p:cNvSpPr/>
          <p:nvPr/>
        </p:nvSpPr>
        <p:spPr>
          <a:xfrm>
            <a:off x="3490722" y="5490972"/>
            <a:ext cx="54864" cy="54864"/>
          </a:xfrm>
          <a:prstGeom prst="ellipse">
            <a:avLst/>
          </a:prstGeom>
          <a:solidFill>
            <a:srgbClr val="0B8482"/>
          </a:solidFill>
          <a:ln/>
        </p:spPr>
      </p:sp>
      <p:sp>
        <p:nvSpPr>
          <p:cNvPr id="95" name="Text 83"/>
          <p:cNvSpPr/>
          <p:nvPr/>
        </p:nvSpPr>
        <p:spPr>
          <a:xfrm>
            <a:off x="3637026" y="5422392"/>
            <a:ext cx="223799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Explainability</a:t>
            </a:r>
            <a:endParaRPr lang="en-US" sz="950" dirty="0"/>
          </a:p>
        </p:txBody>
      </p:sp>
      <p:sp>
        <p:nvSpPr>
          <p:cNvPr id="96" name="Shape 84"/>
          <p:cNvSpPr/>
          <p:nvPr/>
        </p:nvSpPr>
        <p:spPr>
          <a:xfrm>
            <a:off x="6185916" y="3502152"/>
            <a:ext cx="2658618" cy="2514600"/>
          </a:xfrm>
          <a:prstGeom prst="roundRect">
            <a:avLst>
              <a:gd name="adj" fmla="val 2182"/>
            </a:avLst>
          </a:prstGeom>
          <a:solidFill>
            <a:srgbClr val="F5F7FA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97" name="Shape 85"/>
          <p:cNvSpPr/>
          <p:nvPr/>
        </p:nvSpPr>
        <p:spPr>
          <a:xfrm>
            <a:off x="6185916" y="3502152"/>
            <a:ext cx="2658618" cy="365760"/>
          </a:xfrm>
          <a:prstGeom prst="rect">
            <a:avLst/>
          </a:prstGeom>
          <a:solidFill>
            <a:srgbClr val="1B3A63"/>
          </a:solidFill>
          <a:ln/>
        </p:spPr>
      </p:sp>
      <p:sp>
        <p:nvSpPr>
          <p:cNvPr id="98" name="Text 86"/>
          <p:cNvSpPr/>
          <p:nvPr/>
        </p:nvSpPr>
        <p:spPr>
          <a:xfrm>
            <a:off x="6313932" y="3502152"/>
            <a:ext cx="240258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 LAYER</a:t>
            </a:r>
            <a:endParaRPr lang="en-US" sz="1000" dirty="0"/>
          </a:p>
        </p:txBody>
      </p:sp>
      <p:sp>
        <p:nvSpPr>
          <p:cNvPr id="99" name="Shape 87"/>
          <p:cNvSpPr/>
          <p:nvPr/>
        </p:nvSpPr>
        <p:spPr>
          <a:xfrm>
            <a:off x="6332220" y="4137660"/>
            <a:ext cx="54864" cy="54864"/>
          </a:xfrm>
          <a:prstGeom prst="ellipse">
            <a:avLst/>
          </a:prstGeom>
          <a:solidFill>
            <a:srgbClr val="1B3A63"/>
          </a:solidFill>
          <a:ln/>
        </p:spPr>
      </p:sp>
      <p:sp>
        <p:nvSpPr>
          <p:cNvPr id="100" name="Text 88"/>
          <p:cNvSpPr/>
          <p:nvPr/>
        </p:nvSpPr>
        <p:spPr>
          <a:xfrm>
            <a:off x="6478524" y="4069080"/>
            <a:ext cx="223799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</a:t>
            </a:r>
            <a:endParaRPr lang="en-US" sz="950" dirty="0"/>
          </a:p>
        </p:txBody>
      </p:sp>
      <p:sp>
        <p:nvSpPr>
          <p:cNvPr id="101" name="Shape 89"/>
          <p:cNvSpPr/>
          <p:nvPr/>
        </p:nvSpPr>
        <p:spPr>
          <a:xfrm>
            <a:off x="6332220" y="4475988"/>
            <a:ext cx="54864" cy="54864"/>
          </a:xfrm>
          <a:prstGeom prst="ellipse">
            <a:avLst/>
          </a:prstGeom>
          <a:solidFill>
            <a:srgbClr val="1B3A63"/>
          </a:solidFill>
          <a:ln/>
        </p:spPr>
      </p:sp>
      <p:sp>
        <p:nvSpPr>
          <p:cNvPr id="102" name="Text 90"/>
          <p:cNvSpPr/>
          <p:nvPr/>
        </p:nvSpPr>
        <p:spPr>
          <a:xfrm>
            <a:off x="6478524" y="4407408"/>
            <a:ext cx="223799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</a:t>
            </a:r>
            <a:endParaRPr lang="en-US" sz="950" dirty="0"/>
          </a:p>
        </p:txBody>
      </p:sp>
      <p:sp>
        <p:nvSpPr>
          <p:cNvPr id="103" name="Shape 91"/>
          <p:cNvSpPr/>
          <p:nvPr/>
        </p:nvSpPr>
        <p:spPr>
          <a:xfrm>
            <a:off x="6332220" y="4814316"/>
            <a:ext cx="54864" cy="54864"/>
          </a:xfrm>
          <a:prstGeom prst="ellipse">
            <a:avLst/>
          </a:prstGeom>
          <a:solidFill>
            <a:srgbClr val="1B3A63"/>
          </a:solidFill>
          <a:ln/>
        </p:spPr>
      </p:sp>
      <p:sp>
        <p:nvSpPr>
          <p:cNvPr id="104" name="Text 92"/>
          <p:cNvSpPr/>
          <p:nvPr/>
        </p:nvSpPr>
        <p:spPr>
          <a:xfrm>
            <a:off x="6478524" y="4745736"/>
            <a:ext cx="223799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105" name="Shape 93"/>
          <p:cNvSpPr/>
          <p:nvPr/>
        </p:nvSpPr>
        <p:spPr>
          <a:xfrm>
            <a:off x="6332220" y="5152644"/>
            <a:ext cx="54864" cy="54864"/>
          </a:xfrm>
          <a:prstGeom prst="ellipse">
            <a:avLst/>
          </a:prstGeom>
          <a:solidFill>
            <a:srgbClr val="1B3A63"/>
          </a:solidFill>
          <a:ln/>
        </p:spPr>
      </p:sp>
      <p:sp>
        <p:nvSpPr>
          <p:cNvPr id="106" name="Text 94"/>
          <p:cNvSpPr/>
          <p:nvPr/>
        </p:nvSpPr>
        <p:spPr>
          <a:xfrm>
            <a:off x="6478524" y="5084064"/>
            <a:ext cx="223799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High-risk customer views</a:t>
            </a:r>
            <a:endParaRPr lang="en-US" sz="950" dirty="0"/>
          </a:p>
        </p:txBody>
      </p:sp>
      <p:sp>
        <p:nvSpPr>
          <p:cNvPr id="107" name="Shape 95"/>
          <p:cNvSpPr/>
          <p:nvPr/>
        </p:nvSpPr>
        <p:spPr>
          <a:xfrm>
            <a:off x="9027414" y="3502152"/>
            <a:ext cx="2658618" cy="2514600"/>
          </a:xfrm>
          <a:prstGeom prst="roundRect">
            <a:avLst>
              <a:gd name="adj" fmla="val 2182"/>
            </a:avLst>
          </a:prstGeom>
          <a:solidFill>
            <a:srgbClr val="F5F7FA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108" name="Shape 96"/>
          <p:cNvSpPr/>
          <p:nvPr/>
        </p:nvSpPr>
        <p:spPr>
          <a:xfrm>
            <a:off x="9027414" y="3502152"/>
            <a:ext cx="2658618" cy="36576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9" name="Text 97"/>
          <p:cNvSpPr/>
          <p:nvPr/>
        </p:nvSpPr>
        <p:spPr>
          <a:xfrm>
            <a:off x="9155430" y="3502152"/>
            <a:ext cx="240258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AUTOMATION LAYER</a:t>
            </a:r>
            <a:endParaRPr lang="en-US" sz="1000" dirty="0"/>
          </a:p>
        </p:txBody>
      </p:sp>
      <p:sp>
        <p:nvSpPr>
          <p:cNvPr id="110" name="Shape 98"/>
          <p:cNvSpPr/>
          <p:nvPr/>
        </p:nvSpPr>
        <p:spPr>
          <a:xfrm>
            <a:off x="9173718" y="4137660"/>
            <a:ext cx="54864" cy="548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11" name="Text 99"/>
          <p:cNvSpPr/>
          <p:nvPr/>
        </p:nvSpPr>
        <p:spPr>
          <a:xfrm>
            <a:off x="9320022" y="4069080"/>
            <a:ext cx="223799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Airflow</a:t>
            </a:r>
            <a:endParaRPr lang="en-US" sz="950" dirty="0"/>
          </a:p>
        </p:txBody>
      </p:sp>
      <p:sp>
        <p:nvSpPr>
          <p:cNvPr id="112" name="Shape 100"/>
          <p:cNvSpPr/>
          <p:nvPr/>
        </p:nvSpPr>
        <p:spPr>
          <a:xfrm>
            <a:off x="9173718" y="4475988"/>
            <a:ext cx="54864" cy="548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13" name="Text 101"/>
          <p:cNvSpPr/>
          <p:nvPr/>
        </p:nvSpPr>
        <p:spPr>
          <a:xfrm>
            <a:off x="9320022" y="4407408"/>
            <a:ext cx="223799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Batch scoring</a:t>
            </a:r>
            <a:endParaRPr lang="en-US" sz="950" dirty="0"/>
          </a:p>
        </p:txBody>
      </p:sp>
      <p:sp>
        <p:nvSpPr>
          <p:cNvPr id="114" name="Shape 102"/>
          <p:cNvSpPr/>
          <p:nvPr/>
        </p:nvSpPr>
        <p:spPr>
          <a:xfrm>
            <a:off x="9173718" y="4814316"/>
            <a:ext cx="54864" cy="548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15" name="Text 103"/>
          <p:cNvSpPr/>
          <p:nvPr/>
        </p:nvSpPr>
        <p:spPr>
          <a:xfrm>
            <a:off x="9320022" y="4745736"/>
            <a:ext cx="223799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Scheduled workflows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84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155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Quality: The First Control Gate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83112" cy="16459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6565392"/>
            <a:ext cx="11183112" cy="10973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661111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CHURN PREDICTION PLATFORM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972800" y="6611112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12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1243584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reliability begins with reliable data. Every record passes through automated validation before it is trusted for analysis.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1691640"/>
            <a:ext cx="3611880" cy="713232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" y="1837944"/>
            <a:ext cx="420624" cy="420624"/>
          </a:xfrm>
          <a:prstGeom prst="ellipse">
            <a:avLst/>
          </a:prstGeom>
          <a:solidFill>
            <a:srgbClr val="E6F7F6"/>
          </a:solidFill>
          <a:ln/>
        </p:spPr>
      </p:sp>
      <p:pic>
        <p:nvPicPr>
          <p:cNvPr id="12" name="Image 0" descr="/home/claude/icons/validation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929384"/>
            <a:ext cx="237744" cy="23774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61288" y="1691640"/>
            <a:ext cx="2825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Null Checks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251960" y="1691640"/>
            <a:ext cx="3611880" cy="713232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379976" y="1837944"/>
            <a:ext cx="420624" cy="420624"/>
          </a:xfrm>
          <a:prstGeom prst="ellipse">
            <a:avLst/>
          </a:prstGeom>
          <a:solidFill>
            <a:srgbClr val="E6F7F6"/>
          </a:solidFill>
          <a:ln/>
        </p:spPr>
      </p:sp>
      <p:pic>
        <p:nvPicPr>
          <p:cNvPr id="16" name="Image 1" descr="/home/claude/icons/xcircle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1929384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910328" y="1691640"/>
            <a:ext cx="2825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Duplicate Checks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001000" y="1691640"/>
            <a:ext cx="3611880" cy="713232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129016" y="1837944"/>
            <a:ext cx="420624" cy="420624"/>
          </a:xfrm>
          <a:prstGeom prst="ellipse">
            <a:avLst/>
          </a:prstGeom>
          <a:solidFill>
            <a:srgbClr val="E6F7F6"/>
          </a:solidFill>
          <a:ln/>
        </p:spPr>
      </p:sp>
      <p:pic>
        <p:nvPicPr>
          <p:cNvPr id="20" name="Image 2" descr="/home/claude/icons/sliders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0456" y="1929384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659368" y="1691640"/>
            <a:ext cx="2825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Range Validation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02920" y="2551176"/>
            <a:ext cx="3611880" cy="713232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30936" y="2697480"/>
            <a:ext cx="420624" cy="420624"/>
          </a:xfrm>
          <a:prstGeom prst="ellipse">
            <a:avLst/>
          </a:prstGeom>
          <a:solidFill>
            <a:srgbClr val="E6F7F6"/>
          </a:solidFill>
          <a:ln/>
        </p:spPr>
      </p:sp>
      <p:pic>
        <p:nvPicPr>
          <p:cNvPr id="24" name="Image 3" descr="/home/claude/icons/checksquare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2788920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61288" y="2551176"/>
            <a:ext cx="2825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Allowed Value Validation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251960" y="2551176"/>
            <a:ext cx="3611880" cy="713232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379976" y="2697480"/>
            <a:ext cx="420624" cy="420624"/>
          </a:xfrm>
          <a:prstGeom prst="ellipse">
            <a:avLst/>
          </a:prstGeom>
          <a:solidFill>
            <a:srgbClr val="E6F7F6"/>
          </a:solidFill>
          <a:ln/>
        </p:spPr>
      </p:sp>
      <p:pic>
        <p:nvPicPr>
          <p:cNvPr id="28" name="Image 4" descr="/home/claude/icons/piechart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1416" y="2788920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910328" y="2551176"/>
            <a:ext cx="2825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Churn Distribution Validation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001000" y="2551176"/>
            <a:ext cx="3611880" cy="713232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129016" y="2697480"/>
            <a:ext cx="420624" cy="420624"/>
          </a:xfrm>
          <a:prstGeom prst="ellipse">
            <a:avLst/>
          </a:prstGeom>
          <a:solidFill>
            <a:srgbClr val="E6F7F6"/>
          </a:solidFill>
          <a:ln/>
        </p:spPr>
      </p:sp>
      <p:pic>
        <p:nvPicPr>
          <p:cNvPr id="32" name="Image 5" descr="/home/claude/icons/filetext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0456" y="2788920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659368" y="2551176"/>
            <a:ext cx="2825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Row Count Validation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02920" y="33649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B84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 PIPELINE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502920" y="3657600"/>
            <a:ext cx="26060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2E6CA8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502920" y="3657600"/>
            <a:ext cx="2606040" cy="45720"/>
          </a:xfrm>
          <a:prstGeom prst="rect">
            <a:avLst/>
          </a:prstGeom>
          <a:solidFill>
            <a:srgbClr val="2E6CA8"/>
          </a:solidFill>
          <a:ln/>
        </p:spPr>
      </p:sp>
      <p:pic>
        <p:nvPicPr>
          <p:cNvPr id="37" name="Image 6" descr="/home/claude/icons/database_blu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0492" y="3785616"/>
            <a:ext cx="310896" cy="310896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48640" y="4133088"/>
            <a:ext cx="251460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Raw Data</a:t>
            </a:r>
            <a:endParaRPr lang="en-US" sz="850" dirty="0"/>
          </a:p>
        </p:txBody>
      </p:sp>
      <p:sp>
        <p:nvSpPr>
          <p:cNvPr id="39" name="Text 30"/>
          <p:cNvSpPr/>
          <p:nvPr/>
        </p:nvSpPr>
        <p:spPr>
          <a:xfrm>
            <a:off x="3108960" y="38176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Shape 31"/>
          <p:cNvSpPr/>
          <p:nvPr/>
        </p:nvSpPr>
        <p:spPr>
          <a:xfrm>
            <a:off x="3337560" y="3657600"/>
            <a:ext cx="26060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2E6CA8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3337560" y="3657600"/>
            <a:ext cx="2606040" cy="45720"/>
          </a:xfrm>
          <a:prstGeom prst="rect">
            <a:avLst/>
          </a:prstGeom>
          <a:solidFill>
            <a:srgbClr val="2E6CA8"/>
          </a:solidFill>
          <a:ln/>
        </p:spPr>
      </p:sp>
      <p:pic>
        <p:nvPicPr>
          <p:cNvPr id="42" name="Image 7" descr="/home/claude/icons/validation_blu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5132" y="3785616"/>
            <a:ext cx="310896" cy="310896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3383280" y="4133088"/>
            <a:ext cx="251460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 Rules</a:t>
            </a:r>
            <a:endParaRPr lang="en-US" sz="850" dirty="0"/>
          </a:p>
        </p:txBody>
      </p:sp>
      <p:sp>
        <p:nvSpPr>
          <p:cNvPr id="44" name="Text 34"/>
          <p:cNvSpPr/>
          <p:nvPr/>
        </p:nvSpPr>
        <p:spPr>
          <a:xfrm>
            <a:off x="5943600" y="38176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45" name="Shape 35"/>
          <p:cNvSpPr/>
          <p:nvPr/>
        </p:nvSpPr>
        <p:spPr>
          <a:xfrm>
            <a:off x="6172200" y="3657600"/>
            <a:ext cx="26060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0B8482"/>
            </a:solidFill>
            <a:prstDash val="solid"/>
          </a:ln>
        </p:spPr>
      </p:sp>
      <p:sp>
        <p:nvSpPr>
          <p:cNvPr id="46" name="Shape 36"/>
          <p:cNvSpPr/>
          <p:nvPr/>
        </p:nvSpPr>
        <p:spPr>
          <a:xfrm>
            <a:off x="6172200" y="3657600"/>
            <a:ext cx="2606040" cy="45720"/>
          </a:xfrm>
          <a:prstGeom prst="rect">
            <a:avLst/>
          </a:prstGeom>
          <a:solidFill>
            <a:srgbClr val="0B8482"/>
          </a:solidFill>
          <a:ln/>
        </p:spPr>
      </p:sp>
      <p:pic>
        <p:nvPicPr>
          <p:cNvPr id="47" name="Image 8" descr="/home/claude/icons/shield_tea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9772" y="3785616"/>
            <a:ext cx="310896" cy="310896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6217920" y="4133088"/>
            <a:ext cx="251460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Gate</a:t>
            </a:r>
            <a:endParaRPr lang="en-US" sz="850" dirty="0"/>
          </a:p>
        </p:txBody>
      </p:sp>
      <p:sp>
        <p:nvSpPr>
          <p:cNvPr id="49" name="Text 38"/>
          <p:cNvSpPr/>
          <p:nvPr/>
        </p:nvSpPr>
        <p:spPr>
          <a:xfrm>
            <a:off x="8778240" y="38176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50" name="Shape 39"/>
          <p:cNvSpPr/>
          <p:nvPr/>
        </p:nvSpPr>
        <p:spPr>
          <a:xfrm>
            <a:off x="9006840" y="3657600"/>
            <a:ext cx="26060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1" name="Shape 40"/>
          <p:cNvSpPr/>
          <p:nvPr/>
        </p:nvSpPr>
        <p:spPr>
          <a:xfrm>
            <a:off x="9006840" y="3657600"/>
            <a:ext cx="2606040" cy="45720"/>
          </a:xfrm>
          <a:prstGeom prst="rect">
            <a:avLst/>
          </a:prstGeom>
          <a:solidFill>
            <a:srgbClr val="B8860B"/>
          </a:solidFill>
          <a:ln/>
        </p:spPr>
      </p:sp>
      <p:pic>
        <p:nvPicPr>
          <p:cNvPr id="52" name="Image 9" descr="/home/claude/icons/checksquare_gol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54412" y="3785616"/>
            <a:ext cx="310896" cy="310896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9052560" y="4133088"/>
            <a:ext cx="251460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 Dataset</a:t>
            </a:r>
            <a:endParaRPr lang="en-US" sz="850" dirty="0"/>
          </a:p>
        </p:txBody>
      </p:sp>
      <p:sp>
        <p:nvSpPr>
          <p:cNvPr id="54" name="Text 42"/>
          <p:cNvSpPr/>
          <p:nvPr/>
        </p:nvSpPr>
        <p:spPr>
          <a:xfrm>
            <a:off x="502920" y="46451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B84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 STATUS</a:t>
            </a:r>
            <a:endParaRPr lang="en-US" sz="1050" dirty="0"/>
          </a:p>
        </p:txBody>
      </p:sp>
      <p:sp>
        <p:nvSpPr>
          <p:cNvPr id="55" name="Shape 43"/>
          <p:cNvSpPr/>
          <p:nvPr/>
        </p:nvSpPr>
        <p:spPr>
          <a:xfrm>
            <a:off x="502920" y="4937760"/>
            <a:ext cx="3611880" cy="91440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6" name="Text 44"/>
          <p:cNvSpPr/>
          <p:nvPr/>
        </p:nvSpPr>
        <p:spPr>
          <a:xfrm>
            <a:off x="685800" y="504748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7,043</a:t>
            </a:r>
            <a:endParaRPr lang="en-US" sz="2400" dirty="0"/>
          </a:p>
        </p:txBody>
      </p:sp>
      <p:sp>
        <p:nvSpPr>
          <p:cNvPr id="57" name="Text 45"/>
          <p:cNvSpPr/>
          <p:nvPr/>
        </p:nvSpPr>
        <p:spPr>
          <a:xfrm>
            <a:off x="685800" y="550468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Customers</a:t>
            </a:r>
            <a:endParaRPr lang="en-US" sz="1050" dirty="0"/>
          </a:p>
        </p:txBody>
      </p:sp>
      <p:sp>
        <p:nvSpPr>
          <p:cNvPr id="58" name="Shape 46"/>
          <p:cNvSpPr/>
          <p:nvPr/>
        </p:nvSpPr>
        <p:spPr>
          <a:xfrm>
            <a:off x="4251960" y="4937760"/>
            <a:ext cx="3611880" cy="91440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9" name="Text 47"/>
          <p:cNvSpPr/>
          <p:nvPr/>
        </p:nvSpPr>
        <p:spPr>
          <a:xfrm>
            <a:off x="4434840" y="504748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A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Passed</a:t>
            </a:r>
            <a:endParaRPr lang="en-US" sz="2400" dirty="0"/>
          </a:p>
        </p:txBody>
      </p:sp>
      <p:sp>
        <p:nvSpPr>
          <p:cNvPr id="60" name="Text 48"/>
          <p:cNvSpPr/>
          <p:nvPr/>
        </p:nvSpPr>
        <p:spPr>
          <a:xfrm>
            <a:off x="4434840" y="550468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Quality Gate</a:t>
            </a:r>
            <a:endParaRPr lang="en-US" sz="1050" dirty="0"/>
          </a:p>
        </p:txBody>
      </p:sp>
      <p:sp>
        <p:nvSpPr>
          <p:cNvPr id="61" name="Shape 49"/>
          <p:cNvSpPr/>
          <p:nvPr/>
        </p:nvSpPr>
        <p:spPr>
          <a:xfrm>
            <a:off x="8001000" y="4937760"/>
            <a:ext cx="3611880" cy="91440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2" name="Text 50"/>
          <p:cNvSpPr/>
          <p:nvPr/>
        </p:nvSpPr>
        <p:spPr>
          <a:xfrm>
            <a:off x="8183880" y="504748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C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Ready</a:t>
            </a:r>
            <a:endParaRPr lang="en-US" sz="2400" dirty="0"/>
          </a:p>
        </p:txBody>
      </p:sp>
      <p:sp>
        <p:nvSpPr>
          <p:cNvPr id="63" name="Text 51"/>
          <p:cNvSpPr/>
          <p:nvPr/>
        </p:nvSpPr>
        <p:spPr>
          <a:xfrm>
            <a:off x="8183880" y="550468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 &amp; ML</a:t>
            </a:r>
            <a:endParaRPr lang="en-US" sz="1050" dirty="0"/>
          </a:p>
        </p:txBody>
      </p:sp>
      <p:sp>
        <p:nvSpPr>
          <p:cNvPr id="64" name="Shape 52"/>
          <p:cNvSpPr/>
          <p:nvPr/>
        </p:nvSpPr>
        <p:spPr>
          <a:xfrm>
            <a:off x="502920" y="6126480"/>
            <a:ext cx="54864" cy="640080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65" name="Shape 53"/>
          <p:cNvSpPr/>
          <p:nvPr/>
        </p:nvSpPr>
        <p:spPr>
          <a:xfrm>
            <a:off x="557784" y="6126480"/>
            <a:ext cx="11128248" cy="6400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6" name="Text 54"/>
          <p:cNvSpPr/>
          <p:nvPr/>
        </p:nvSpPr>
        <p:spPr>
          <a:xfrm>
            <a:off x="822960" y="6263640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validated data moves downstream into curation and machine learning.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84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155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Building a Trusted Customer Dataset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83112" cy="16459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6565392"/>
            <a:ext cx="11183112" cy="10973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661111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CHURN PREDICTION PLATFORM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972800" y="6611112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12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12801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B84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ETL PIPELINE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1627632"/>
            <a:ext cx="166573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2E6C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627632"/>
            <a:ext cx="1665732" cy="45720"/>
          </a:xfrm>
          <a:prstGeom prst="rect">
            <a:avLst/>
          </a:prstGeom>
          <a:solidFill>
            <a:srgbClr val="2E6CA8"/>
          </a:solidFill>
          <a:ln/>
        </p:spPr>
      </p:sp>
      <p:pic>
        <p:nvPicPr>
          <p:cNvPr id="12" name="Image 0" descr="/home/claude/icons/database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0338" y="1755648"/>
            <a:ext cx="310896" cy="31089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48640" y="2103120"/>
            <a:ext cx="1574292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Raw Customer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168652" y="1879092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406396" y="1627632"/>
            <a:ext cx="166573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2E6CA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406396" y="1627632"/>
            <a:ext cx="1665732" cy="45720"/>
          </a:xfrm>
          <a:prstGeom prst="rect">
            <a:avLst/>
          </a:prstGeom>
          <a:solidFill>
            <a:srgbClr val="2E6CA8"/>
          </a:solidFill>
          <a:ln/>
        </p:spPr>
      </p:sp>
      <p:pic>
        <p:nvPicPr>
          <p:cNvPr id="17" name="Image 1" descr="/home/claude/icons/filter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3814" y="1755648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452116" y="2103120"/>
            <a:ext cx="1574292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Missing Value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Handling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4072128" y="1879092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4309872" y="1627632"/>
            <a:ext cx="166573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0B848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309872" y="1627632"/>
            <a:ext cx="1665732" cy="45720"/>
          </a:xfrm>
          <a:prstGeom prst="rect">
            <a:avLst/>
          </a:prstGeom>
          <a:solidFill>
            <a:srgbClr val="0B8482"/>
          </a:solidFill>
          <a:ln/>
        </p:spPr>
      </p:sp>
      <p:pic>
        <p:nvPicPr>
          <p:cNvPr id="22" name="Image 2" descr="/home/claude/icons/layers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290" y="1755648"/>
            <a:ext cx="310896" cy="31089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355592" y="2103120"/>
            <a:ext cx="1574292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Standardization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5975604" y="1879092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6213348" y="1627632"/>
            <a:ext cx="166573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0B8482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213348" y="1627632"/>
            <a:ext cx="1665732" cy="45720"/>
          </a:xfrm>
          <a:prstGeom prst="rect">
            <a:avLst/>
          </a:prstGeom>
          <a:solidFill>
            <a:srgbClr val="0B8482"/>
          </a:solidFill>
          <a:ln/>
        </p:spPr>
      </p:sp>
      <p:pic>
        <p:nvPicPr>
          <p:cNvPr id="27" name="Image 3" descr="/home/claude/icons/etl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0766" y="1755648"/>
            <a:ext cx="310896" cy="31089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259068" y="2103120"/>
            <a:ext cx="1574292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Transformation</a:t>
            </a:r>
            <a:endParaRPr lang="en-US" sz="850" dirty="0"/>
          </a:p>
        </p:txBody>
      </p:sp>
      <p:sp>
        <p:nvSpPr>
          <p:cNvPr id="29" name="Text 23"/>
          <p:cNvSpPr/>
          <p:nvPr/>
        </p:nvSpPr>
        <p:spPr>
          <a:xfrm>
            <a:off x="7879080" y="1879092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4"/>
          <p:cNvSpPr/>
          <p:nvPr/>
        </p:nvSpPr>
        <p:spPr>
          <a:xfrm>
            <a:off x="8116824" y="1627632"/>
            <a:ext cx="166573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0B848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8116824" y="1627632"/>
            <a:ext cx="1665732" cy="45720"/>
          </a:xfrm>
          <a:prstGeom prst="rect">
            <a:avLst/>
          </a:prstGeom>
          <a:solidFill>
            <a:srgbClr val="0B8482"/>
          </a:solidFill>
          <a:ln/>
        </p:spPr>
      </p:sp>
      <p:pic>
        <p:nvPicPr>
          <p:cNvPr id="32" name="Image 4" descr="/home/claude/icons/checksquare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4242" y="1755648"/>
            <a:ext cx="310896" cy="31089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8162544" y="2103120"/>
            <a:ext cx="1574292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</a:t>
            </a:r>
            <a:endParaRPr lang="en-US" sz="850" dirty="0"/>
          </a:p>
        </p:txBody>
      </p:sp>
      <p:sp>
        <p:nvSpPr>
          <p:cNvPr id="34" name="Text 27"/>
          <p:cNvSpPr/>
          <p:nvPr/>
        </p:nvSpPr>
        <p:spPr>
          <a:xfrm>
            <a:off x="9782556" y="1879092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Shape 28"/>
          <p:cNvSpPr/>
          <p:nvPr/>
        </p:nvSpPr>
        <p:spPr>
          <a:xfrm>
            <a:off x="10020300" y="1627632"/>
            <a:ext cx="166573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10020300" y="1627632"/>
            <a:ext cx="1665732" cy="45720"/>
          </a:xfrm>
          <a:prstGeom prst="rect">
            <a:avLst/>
          </a:prstGeom>
          <a:solidFill>
            <a:srgbClr val="B8860B"/>
          </a:solidFill>
          <a:ln/>
        </p:spPr>
      </p:sp>
      <p:pic>
        <p:nvPicPr>
          <p:cNvPr id="37" name="Image 5" descr="/home/claude/icons/box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97718" y="1755648"/>
            <a:ext cx="310896" cy="310896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0066020" y="2103120"/>
            <a:ext cx="1574292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cleaned_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customers</a:t>
            </a:r>
            <a:endParaRPr lang="en-US" sz="850" dirty="0"/>
          </a:p>
        </p:txBody>
      </p:sp>
      <p:sp>
        <p:nvSpPr>
          <p:cNvPr id="39" name="Text 31"/>
          <p:cNvSpPr/>
          <p:nvPr/>
        </p:nvSpPr>
        <p:spPr>
          <a:xfrm>
            <a:off x="502920" y="284378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B84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EXAMPLE: STANDARDIZING RAW VALUES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502920" y="3136392"/>
            <a:ext cx="4892040" cy="1371600"/>
          </a:xfrm>
          <a:prstGeom prst="roundRect">
            <a:avLst>
              <a:gd name="adj" fmla="val 4000"/>
            </a:avLst>
          </a:prstGeom>
          <a:solidFill>
            <a:srgbClr val="FDEDEE"/>
          </a:solidFill>
          <a:ln w="12700">
            <a:solidFill>
              <a:srgbClr val="F3C8CC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685800" y="32644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D726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RAW</a:t>
            </a:r>
            <a:endParaRPr lang="en-US" sz="950" dirty="0"/>
          </a:p>
        </p:txBody>
      </p:sp>
      <p:sp>
        <p:nvSpPr>
          <p:cNvPr id="42" name="Text 34"/>
          <p:cNvSpPr/>
          <p:nvPr/>
        </p:nvSpPr>
        <p:spPr>
          <a:xfrm>
            <a:off x="685800" y="3639312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9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  /  No  /  Missing  /  inconsistent values</a:t>
            </a:r>
            <a:endParaRPr lang="en-US" sz="1400" dirty="0"/>
          </a:p>
        </p:txBody>
      </p:sp>
      <p:sp>
        <p:nvSpPr>
          <p:cNvPr id="43" name="Text 35"/>
          <p:cNvSpPr/>
          <p:nvPr/>
        </p:nvSpPr>
        <p:spPr>
          <a:xfrm>
            <a:off x="5468112" y="3547872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84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600" dirty="0"/>
          </a:p>
        </p:txBody>
      </p:sp>
      <p:sp>
        <p:nvSpPr>
          <p:cNvPr id="44" name="Shape 36"/>
          <p:cNvSpPr/>
          <p:nvPr/>
        </p:nvSpPr>
        <p:spPr>
          <a:xfrm>
            <a:off x="6062472" y="3136392"/>
            <a:ext cx="4892040" cy="1371600"/>
          </a:xfrm>
          <a:prstGeom prst="roundRect">
            <a:avLst>
              <a:gd name="adj" fmla="val 4000"/>
            </a:avLst>
          </a:prstGeom>
          <a:solidFill>
            <a:srgbClr val="E6F7F6"/>
          </a:solidFill>
          <a:ln w="12700">
            <a:solidFill>
              <a:srgbClr val="9FE0DD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6245352" y="326440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B84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STANDARDIZED</a:t>
            </a:r>
            <a:endParaRPr lang="en-US" sz="950" dirty="0"/>
          </a:p>
        </p:txBody>
      </p:sp>
      <p:sp>
        <p:nvSpPr>
          <p:cNvPr id="46" name="Text 38"/>
          <p:cNvSpPr/>
          <p:nvPr/>
        </p:nvSpPr>
        <p:spPr>
          <a:xfrm>
            <a:off x="6245352" y="3639312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84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/  0  /  validated values</a:t>
            </a:r>
            <a:endParaRPr lang="en-US" sz="1500" dirty="0"/>
          </a:p>
        </p:txBody>
      </p:sp>
      <p:sp>
        <p:nvSpPr>
          <p:cNvPr id="47" name="Shape 39"/>
          <p:cNvSpPr/>
          <p:nvPr/>
        </p:nvSpPr>
        <p:spPr>
          <a:xfrm>
            <a:off x="502920" y="4828032"/>
            <a:ext cx="54864" cy="640080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48" name="Shape 40"/>
          <p:cNvSpPr/>
          <p:nvPr/>
        </p:nvSpPr>
        <p:spPr>
          <a:xfrm>
            <a:off x="557784" y="4828032"/>
            <a:ext cx="11128248" cy="6400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9" name="Text 41"/>
          <p:cNvSpPr/>
          <p:nvPr/>
        </p:nvSpPr>
        <p:spPr>
          <a:xfrm>
            <a:off x="822960" y="4965192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curation converts raw customer records into a consistent analytical foundation.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84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155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Turning Customer Attributes into Behavioural Signals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83112" cy="16459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6565392"/>
            <a:ext cx="11183112" cy="10973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661111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CHURN PREDICTION PLATFORM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972800" y="6611112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12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02920" y="1298448"/>
            <a:ext cx="2697480" cy="502920"/>
          </a:xfrm>
          <a:prstGeom prst="roundRect">
            <a:avLst>
              <a:gd name="adj" fmla="val 50000"/>
            </a:avLst>
          </a:prstGeom>
          <a:solidFill>
            <a:srgbClr val="13284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2984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Attributes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0" y="1362456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364992" y="1298448"/>
            <a:ext cx="2697480" cy="502920"/>
          </a:xfrm>
          <a:prstGeom prst="roundRect">
            <a:avLst>
              <a:gd name="adj" fmla="val 50000"/>
            </a:avLst>
          </a:prstGeom>
          <a:solidFill>
            <a:srgbClr val="13284A"/>
          </a:solidFill>
          <a:ln/>
        </p:spPr>
      </p:sp>
      <p:sp>
        <p:nvSpPr>
          <p:cNvPr id="13" name="Text 11"/>
          <p:cNvSpPr/>
          <p:nvPr/>
        </p:nvSpPr>
        <p:spPr>
          <a:xfrm>
            <a:off x="3364992" y="12984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Transformation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062472" y="1362456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27064" y="1298448"/>
            <a:ext cx="2697480" cy="502920"/>
          </a:xfrm>
          <a:prstGeom prst="roundRect">
            <a:avLst>
              <a:gd name="adj" fmla="val 50000"/>
            </a:avLst>
          </a:prstGeom>
          <a:solidFill>
            <a:srgbClr val="13284A"/>
          </a:solidFill>
          <a:ln/>
        </p:spPr>
      </p:sp>
      <p:sp>
        <p:nvSpPr>
          <p:cNvPr id="16" name="Text 14"/>
          <p:cNvSpPr/>
          <p:nvPr/>
        </p:nvSpPr>
        <p:spPr>
          <a:xfrm>
            <a:off x="6227064" y="12984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Behavioural Indicators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924544" y="1362456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089136" y="1298448"/>
            <a:ext cx="2697480" cy="50292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/>
        </p:spPr>
      </p:sp>
      <p:sp>
        <p:nvSpPr>
          <p:cNvPr id="19" name="Text 17"/>
          <p:cNvSpPr/>
          <p:nvPr/>
        </p:nvSpPr>
        <p:spPr>
          <a:xfrm>
            <a:off x="9089136" y="12984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ML-Ready Dataset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21031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B84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ENGINEERED FEATURES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2450592"/>
            <a:ext cx="2130552" cy="2331720"/>
          </a:xfrm>
          <a:prstGeom prst="roundRect">
            <a:avLst>
              <a:gd name="adj" fmla="val 2575"/>
            </a:avLst>
          </a:prstGeom>
          <a:solidFill>
            <a:srgbClr val="F5F7FA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2450592"/>
            <a:ext cx="2130552" cy="50292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23" name="Shape 21"/>
          <p:cNvSpPr/>
          <p:nvPr/>
        </p:nvSpPr>
        <p:spPr>
          <a:xfrm>
            <a:off x="1312164" y="2706624"/>
            <a:ext cx="512064" cy="512064"/>
          </a:xfrm>
          <a:prstGeom prst="ellipse">
            <a:avLst/>
          </a:prstGeom>
          <a:solidFill>
            <a:srgbClr val="E6F7F6"/>
          </a:solidFill>
          <a:ln/>
        </p:spPr>
      </p:sp>
      <p:pic>
        <p:nvPicPr>
          <p:cNvPr id="24" name="Image 0" descr="/home/claude/icons/cpu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1892" y="2816352"/>
            <a:ext cx="292608" cy="29260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57784" y="3364992"/>
            <a:ext cx="20208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service_count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77240" y="3895344"/>
            <a:ext cx="1581912" cy="10973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27" name="Text 24"/>
          <p:cNvSpPr/>
          <p:nvPr/>
        </p:nvSpPr>
        <p:spPr>
          <a:xfrm>
            <a:off x="594360" y="4023360"/>
            <a:ext cx="1947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engagement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2761488" y="2450592"/>
            <a:ext cx="2130552" cy="2331720"/>
          </a:xfrm>
          <a:prstGeom prst="roundRect">
            <a:avLst>
              <a:gd name="adj" fmla="val 2575"/>
            </a:avLst>
          </a:prstGeom>
          <a:solidFill>
            <a:srgbClr val="F5F7FA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761488" y="2450592"/>
            <a:ext cx="2130552" cy="50292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0" name="Shape 27"/>
          <p:cNvSpPr/>
          <p:nvPr/>
        </p:nvSpPr>
        <p:spPr>
          <a:xfrm>
            <a:off x="3570732" y="2706624"/>
            <a:ext cx="512064" cy="512064"/>
          </a:xfrm>
          <a:prstGeom prst="ellipse">
            <a:avLst/>
          </a:prstGeom>
          <a:solidFill>
            <a:srgbClr val="E6F7F6"/>
          </a:solidFill>
          <a:ln/>
        </p:spPr>
      </p:sp>
      <p:pic>
        <p:nvPicPr>
          <p:cNvPr id="31" name="Image 1" descr="/home/claude/icons/dollar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2816352"/>
            <a:ext cx="292608" cy="292608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2816352" y="3364992"/>
            <a:ext cx="20208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high_charge_flag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3035808" y="3895344"/>
            <a:ext cx="1581912" cy="10973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34" name="Text 30"/>
          <p:cNvSpPr/>
          <p:nvPr/>
        </p:nvSpPr>
        <p:spPr>
          <a:xfrm>
            <a:off x="2852928" y="4023360"/>
            <a:ext cx="1947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Spending behaviour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5020056" y="2450592"/>
            <a:ext cx="2130552" cy="2331720"/>
          </a:xfrm>
          <a:prstGeom prst="roundRect">
            <a:avLst>
              <a:gd name="adj" fmla="val 2575"/>
            </a:avLst>
          </a:prstGeom>
          <a:solidFill>
            <a:srgbClr val="F5F7FA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5020056" y="2450592"/>
            <a:ext cx="2130552" cy="50292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7" name="Shape 33"/>
          <p:cNvSpPr/>
          <p:nvPr/>
        </p:nvSpPr>
        <p:spPr>
          <a:xfrm>
            <a:off x="5829300" y="2706624"/>
            <a:ext cx="512064" cy="512064"/>
          </a:xfrm>
          <a:prstGeom prst="ellipse">
            <a:avLst/>
          </a:prstGeom>
          <a:solidFill>
            <a:srgbClr val="E6F7F6"/>
          </a:solidFill>
          <a:ln/>
        </p:spPr>
      </p:sp>
      <p:pic>
        <p:nvPicPr>
          <p:cNvPr id="38" name="Image 2" descr="/home/claude/icons/clock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028" y="2816352"/>
            <a:ext cx="292608" cy="292608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5074920" y="3364992"/>
            <a:ext cx="20208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is_long_term_customer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294376" y="3895344"/>
            <a:ext cx="1581912" cy="10973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41" name="Text 36"/>
          <p:cNvSpPr/>
          <p:nvPr/>
        </p:nvSpPr>
        <p:spPr>
          <a:xfrm>
            <a:off x="5111496" y="4023360"/>
            <a:ext cx="1947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loyalty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278624" y="2450592"/>
            <a:ext cx="2130552" cy="2331720"/>
          </a:xfrm>
          <a:prstGeom prst="roundRect">
            <a:avLst>
              <a:gd name="adj" fmla="val 2575"/>
            </a:avLst>
          </a:prstGeom>
          <a:solidFill>
            <a:srgbClr val="F5F7FA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7278624" y="2450592"/>
            <a:ext cx="2130552" cy="50292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44" name="Shape 39"/>
          <p:cNvSpPr/>
          <p:nvPr/>
        </p:nvSpPr>
        <p:spPr>
          <a:xfrm>
            <a:off x="8087868" y="2706624"/>
            <a:ext cx="512064" cy="512064"/>
          </a:xfrm>
          <a:prstGeom prst="ellipse">
            <a:avLst/>
          </a:prstGeom>
          <a:solidFill>
            <a:srgbClr val="E6F7F6"/>
          </a:solidFill>
          <a:ln/>
        </p:spPr>
      </p:sp>
      <p:pic>
        <p:nvPicPr>
          <p:cNvPr id="45" name="Image 3" descr="/home/claude/icons/checksquare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7596" y="2816352"/>
            <a:ext cx="292608" cy="292608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7333488" y="3364992"/>
            <a:ext cx="20208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auto_pay_flag</a:t>
            </a:r>
            <a:endParaRPr lang="en-US" sz="1000" dirty="0"/>
          </a:p>
        </p:txBody>
      </p:sp>
      <p:sp>
        <p:nvSpPr>
          <p:cNvPr id="47" name="Shape 41"/>
          <p:cNvSpPr/>
          <p:nvPr/>
        </p:nvSpPr>
        <p:spPr>
          <a:xfrm>
            <a:off x="7552944" y="3895344"/>
            <a:ext cx="1581912" cy="10973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48" name="Text 42"/>
          <p:cNvSpPr/>
          <p:nvPr/>
        </p:nvSpPr>
        <p:spPr>
          <a:xfrm>
            <a:off x="7370064" y="4023360"/>
            <a:ext cx="1947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behaviour</a:t>
            </a:r>
            <a:endParaRPr lang="en-US" sz="1000" dirty="0"/>
          </a:p>
        </p:txBody>
      </p:sp>
      <p:sp>
        <p:nvSpPr>
          <p:cNvPr id="49" name="Shape 43"/>
          <p:cNvSpPr/>
          <p:nvPr/>
        </p:nvSpPr>
        <p:spPr>
          <a:xfrm>
            <a:off x="9537192" y="2450592"/>
            <a:ext cx="2130552" cy="2331720"/>
          </a:xfrm>
          <a:prstGeom prst="roundRect">
            <a:avLst>
              <a:gd name="adj" fmla="val 2575"/>
            </a:avLst>
          </a:prstGeom>
          <a:solidFill>
            <a:srgbClr val="F5F7FA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9537192" y="2450592"/>
            <a:ext cx="2130552" cy="50292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51" name="Shape 45"/>
          <p:cNvSpPr/>
          <p:nvPr/>
        </p:nvSpPr>
        <p:spPr>
          <a:xfrm>
            <a:off x="10346436" y="2706624"/>
            <a:ext cx="512064" cy="512064"/>
          </a:xfrm>
          <a:prstGeom prst="ellipse">
            <a:avLst/>
          </a:prstGeom>
          <a:solidFill>
            <a:srgbClr val="E6F7F6"/>
          </a:solidFill>
          <a:ln/>
        </p:spPr>
      </p:sp>
      <p:pic>
        <p:nvPicPr>
          <p:cNvPr id="52" name="Image 4" descr="/home/claude/icons/grid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6164" y="2816352"/>
            <a:ext cx="292608" cy="292608"/>
          </a:xfrm>
          <a:prstGeom prst="rect">
            <a:avLst/>
          </a:prstGeom>
        </p:spPr>
      </p:pic>
      <p:sp>
        <p:nvSpPr>
          <p:cNvPr id="53" name="Text 46"/>
          <p:cNvSpPr/>
          <p:nvPr/>
        </p:nvSpPr>
        <p:spPr>
          <a:xfrm>
            <a:off x="9592056" y="3364992"/>
            <a:ext cx="20208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has_streaming_bundle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9811512" y="3895344"/>
            <a:ext cx="1581912" cy="10973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55" name="Text 48"/>
          <p:cNvSpPr/>
          <p:nvPr/>
        </p:nvSpPr>
        <p:spPr>
          <a:xfrm>
            <a:off x="9628632" y="4023360"/>
            <a:ext cx="1947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adoption</a:t>
            </a:r>
            <a:endParaRPr lang="en-US" sz="1000" dirty="0"/>
          </a:p>
        </p:txBody>
      </p:sp>
      <p:sp>
        <p:nvSpPr>
          <p:cNvPr id="56" name="Shape 49"/>
          <p:cNvSpPr/>
          <p:nvPr/>
        </p:nvSpPr>
        <p:spPr>
          <a:xfrm>
            <a:off x="502920" y="5056632"/>
            <a:ext cx="11183112" cy="777240"/>
          </a:xfrm>
          <a:prstGeom prst="roundRect">
            <a:avLst>
              <a:gd name="adj" fmla="val 8235"/>
            </a:avLst>
          </a:prstGeom>
          <a:solidFill>
            <a:srgbClr val="0B1F3A"/>
          </a:solidFill>
          <a:ln/>
        </p:spPr>
      </p:sp>
      <p:pic>
        <p:nvPicPr>
          <p:cNvPr id="57" name="Image 5" descr="/home/claude/icons/box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285232"/>
            <a:ext cx="329184" cy="329184"/>
          </a:xfrm>
          <a:prstGeom prst="rect">
            <a:avLst/>
          </a:prstGeom>
        </p:spPr>
      </p:pic>
      <p:sp>
        <p:nvSpPr>
          <p:cNvPr id="58" name="Text 50"/>
          <p:cNvSpPr/>
          <p:nvPr/>
        </p:nvSpPr>
        <p:spPr>
          <a:xfrm>
            <a:off x="1234440" y="51663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FA3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 DATASET</a:t>
            </a:r>
            <a:endParaRPr lang="en-US" sz="900" dirty="0"/>
          </a:p>
        </p:txBody>
      </p:sp>
      <p:sp>
        <p:nvSpPr>
          <p:cNvPr id="59" name="Text 51"/>
          <p:cNvSpPr/>
          <p:nvPr/>
        </p:nvSpPr>
        <p:spPr>
          <a:xfrm>
            <a:off x="1234440" y="538581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customer_ml_features</a:t>
            </a:r>
            <a:endParaRPr lang="en-US" sz="1700" dirty="0"/>
          </a:p>
        </p:txBody>
      </p:sp>
      <p:sp>
        <p:nvSpPr>
          <p:cNvPr id="60" name="Text 52"/>
          <p:cNvSpPr/>
          <p:nvPr/>
        </p:nvSpPr>
        <p:spPr>
          <a:xfrm>
            <a:off x="6126480" y="5056632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4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unified, model-ready table combining engineered behavioural signals for every customer.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84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155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Preparing the Dataset for Churn Prediction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83112" cy="16459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6565392"/>
            <a:ext cx="11183112" cy="10973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661111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CHURN PREDICTION PLATFORM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972800" y="6611112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/ 12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126187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B84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 PREPARATION WORKFLOW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1600200"/>
            <a:ext cx="2046427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2E6C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600200"/>
            <a:ext cx="2046427" cy="45720"/>
          </a:xfrm>
          <a:prstGeom prst="rect">
            <a:avLst/>
          </a:prstGeom>
          <a:solidFill>
            <a:srgbClr val="2E6CA8"/>
          </a:solidFill>
          <a:ln/>
        </p:spPr>
      </p:sp>
      <p:pic>
        <p:nvPicPr>
          <p:cNvPr id="12" name="Image 0" descr="/home/claude/icons/target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0686" y="1728216"/>
            <a:ext cx="310896" cy="31089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48640" y="2075688"/>
            <a:ext cx="1954987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Definition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549347" y="1805940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787091" y="1600200"/>
            <a:ext cx="2046427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2E6CA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87091" y="1600200"/>
            <a:ext cx="2046427" cy="45720"/>
          </a:xfrm>
          <a:prstGeom prst="rect">
            <a:avLst/>
          </a:prstGeom>
          <a:solidFill>
            <a:srgbClr val="2E6CA8"/>
          </a:solidFill>
          <a:ln/>
        </p:spPr>
      </p:sp>
      <p:pic>
        <p:nvPicPr>
          <p:cNvPr id="17" name="Image 1" descr="/home/claude/icons/sliders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4857" y="172821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832811" y="2075688"/>
            <a:ext cx="1954987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Selection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4833518" y="1805940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5071262" y="1600200"/>
            <a:ext cx="2046427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0B848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071262" y="1600200"/>
            <a:ext cx="2046427" cy="45720"/>
          </a:xfrm>
          <a:prstGeom prst="rect">
            <a:avLst/>
          </a:prstGeom>
          <a:solidFill>
            <a:srgbClr val="0B8482"/>
          </a:solidFill>
          <a:ln/>
        </p:spPr>
      </p:sp>
      <p:pic>
        <p:nvPicPr>
          <p:cNvPr id="22" name="Image 2" descr="/home/claude/icons/settings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028" y="1728216"/>
            <a:ext cx="310896" cy="31089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116982" y="2075688"/>
            <a:ext cx="1954987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Categorical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Encoding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7117690" y="1805940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7355434" y="1600200"/>
            <a:ext cx="2046427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0B8482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355434" y="1600200"/>
            <a:ext cx="2046427" cy="45720"/>
          </a:xfrm>
          <a:prstGeom prst="rect">
            <a:avLst/>
          </a:prstGeom>
          <a:solidFill>
            <a:srgbClr val="0B8482"/>
          </a:solidFill>
          <a:ln/>
        </p:spPr>
      </p:sp>
      <p:pic>
        <p:nvPicPr>
          <p:cNvPr id="27" name="Image 3" descr="/home/claude/icons/gitbranch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3199" y="1728216"/>
            <a:ext cx="310896" cy="31089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401154" y="2075688"/>
            <a:ext cx="1954987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Train-Test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</a:t>
            </a:r>
            <a:endParaRPr lang="en-US" sz="850" dirty="0"/>
          </a:p>
        </p:txBody>
      </p:sp>
      <p:sp>
        <p:nvSpPr>
          <p:cNvPr id="29" name="Text 23"/>
          <p:cNvSpPr/>
          <p:nvPr/>
        </p:nvSpPr>
        <p:spPr>
          <a:xfrm>
            <a:off x="9401861" y="1805940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4"/>
          <p:cNvSpPr/>
          <p:nvPr/>
        </p:nvSpPr>
        <p:spPr>
          <a:xfrm>
            <a:off x="9639605" y="1600200"/>
            <a:ext cx="2046427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9639605" y="1600200"/>
            <a:ext cx="2046427" cy="45720"/>
          </a:xfrm>
          <a:prstGeom prst="rect">
            <a:avLst/>
          </a:prstGeom>
          <a:solidFill>
            <a:srgbClr val="B8860B"/>
          </a:solidFill>
          <a:ln/>
        </p:spPr>
      </p:sp>
      <p:pic>
        <p:nvPicPr>
          <p:cNvPr id="32" name="Image 4" descr="/home/claude/icons/cpu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7370" y="1728216"/>
            <a:ext cx="310896" cy="31089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685325" y="2075688"/>
            <a:ext cx="1954987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</a:t>
            </a:r>
            <a:endParaRPr lang="en-US" sz="850" dirty="0"/>
          </a:p>
        </p:txBody>
      </p:sp>
      <p:sp>
        <p:nvSpPr>
          <p:cNvPr id="34" name="Text 27"/>
          <p:cNvSpPr/>
          <p:nvPr/>
        </p:nvSpPr>
        <p:spPr>
          <a:xfrm>
            <a:off x="502920" y="26791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B84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 COMPOSITION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502920" y="2971800"/>
            <a:ext cx="2054352" cy="1371600"/>
          </a:xfrm>
          <a:prstGeom prst="roundRect">
            <a:avLst>
              <a:gd name="adj" fmla="val 4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640080" y="3200400"/>
            <a:ext cx="1780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7,043</a:t>
            </a:r>
            <a:endParaRPr lang="en-US" sz="3000" dirty="0"/>
          </a:p>
        </p:txBody>
      </p:sp>
      <p:sp>
        <p:nvSpPr>
          <p:cNvPr id="37" name="Text 30"/>
          <p:cNvSpPr/>
          <p:nvPr/>
        </p:nvSpPr>
        <p:spPr>
          <a:xfrm>
            <a:off x="640080" y="3840480"/>
            <a:ext cx="1780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C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Customers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2721864" y="2971800"/>
            <a:ext cx="2054352" cy="1371600"/>
          </a:xfrm>
          <a:prstGeom prst="roundRect">
            <a:avLst>
              <a:gd name="adj" fmla="val 4000"/>
            </a:avLst>
          </a:prstGeom>
          <a:solidFill>
            <a:srgbClr val="E6F7F6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2859024" y="3200400"/>
            <a:ext cx="1780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84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73%</a:t>
            </a:r>
            <a:endParaRPr lang="en-US" sz="3000" dirty="0"/>
          </a:p>
        </p:txBody>
      </p:sp>
      <p:sp>
        <p:nvSpPr>
          <p:cNvPr id="40" name="Text 33"/>
          <p:cNvSpPr/>
          <p:nvPr/>
        </p:nvSpPr>
        <p:spPr>
          <a:xfrm>
            <a:off x="2859024" y="3840480"/>
            <a:ext cx="1780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</a:t>
            </a:r>
            <a:endParaRPr lang="en-US" sz="1100" dirty="0"/>
          </a:p>
        </p:txBody>
      </p:sp>
      <p:sp>
        <p:nvSpPr>
          <p:cNvPr id="41" name="Shape 34"/>
          <p:cNvSpPr/>
          <p:nvPr/>
        </p:nvSpPr>
        <p:spPr>
          <a:xfrm>
            <a:off x="4940808" y="2971800"/>
            <a:ext cx="2054352" cy="1371600"/>
          </a:xfrm>
          <a:prstGeom prst="roundRect">
            <a:avLst>
              <a:gd name="adj" fmla="val 4000"/>
            </a:avLst>
          </a:prstGeom>
          <a:solidFill>
            <a:srgbClr val="FDEDEE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5077968" y="3200400"/>
            <a:ext cx="1780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726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27%</a:t>
            </a:r>
            <a:endParaRPr lang="en-US" sz="3000" dirty="0"/>
          </a:p>
        </p:txBody>
      </p:sp>
      <p:sp>
        <p:nvSpPr>
          <p:cNvPr id="43" name="Text 36"/>
          <p:cNvSpPr/>
          <p:nvPr/>
        </p:nvSpPr>
        <p:spPr>
          <a:xfrm>
            <a:off x="5077968" y="3840480"/>
            <a:ext cx="1780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Churned</a:t>
            </a:r>
            <a:endParaRPr lang="en-US" sz="1100" dirty="0"/>
          </a:p>
        </p:txBody>
      </p:sp>
      <p:sp>
        <p:nvSpPr>
          <p:cNvPr id="44" name="Shape 37"/>
          <p:cNvSpPr/>
          <p:nvPr/>
        </p:nvSpPr>
        <p:spPr>
          <a:xfrm>
            <a:off x="7269480" y="2971800"/>
            <a:ext cx="4416552" cy="13716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7452360" y="3099816"/>
            <a:ext cx="4050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vs CHURNED</a:t>
            </a:r>
            <a:endParaRPr lang="en-US" sz="900" dirty="0"/>
          </a:p>
        </p:txBody>
      </p:sp>
      <p:graphicFrame>
        <p:nvGraphicFramePr>
          <p:cNvPr id="46" name="Chart 0" descr=""/>
          <p:cNvGraphicFramePr/>
          <p:nvPr/>
        </p:nvGraphicFramePr>
        <p:xfrm>
          <a:off x="7452360" y="3355848"/>
          <a:ext cx="868680" cy="868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47" name="Shape 39"/>
          <p:cNvSpPr/>
          <p:nvPr/>
        </p:nvSpPr>
        <p:spPr>
          <a:xfrm>
            <a:off x="8549640" y="3474720"/>
            <a:ext cx="128016" cy="128016"/>
          </a:xfrm>
          <a:prstGeom prst="ellipse">
            <a:avLst/>
          </a:prstGeom>
          <a:solidFill>
            <a:srgbClr val="0EA5A3"/>
          </a:solidFill>
          <a:ln/>
        </p:spPr>
      </p:sp>
      <p:sp>
        <p:nvSpPr>
          <p:cNvPr id="48" name="Text 40"/>
          <p:cNvSpPr/>
          <p:nvPr/>
        </p:nvSpPr>
        <p:spPr>
          <a:xfrm>
            <a:off x="8750808" y="3410712"/>
            <a:ext cx="2752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— 73%</a:t>
            </a:r>
            <a:endParaRPr lang="en-US" sz="1050" dirty="0"/>
          </a:p>
        </p:txBody>
      </p:sp>
      <p:sp>
        <p:nvSpPr>
          <p:cNvPr id="49" name="Shape 41"/>
          <p:cNvSpPr/>
          <p:nvPr/>
        </p:nvSpPr>
        <p:spPr>
          <a:xfrm>
            <a:off x="8549640" y="3840480"/>
            <a:ext cx="128016" cy="128016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50" name="Text 42"/>
          <p:cNvSpPr/>
          <p:nvPr/>
        </p:nvSpPr>
        <p:spPr>
          <a:xfrm>
            <a:off x="8750808" y="3776472"/>
            <a:ext cx="2752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Churned — 27%</a:t>
            </a:r>
            <a:endParaRPr lang="en-US" sz="1050" dirty="0"/>
          </a:p>
        </p:txBody>
      </p:sp>
      <p:sp>
        <p:nvSpPr>
          <p:cNvPr id="51" name="Shape 43"/>
          <p:cNvSpPr/>
          <p:nvPr/>
        </p:nvSpPr>
        <p:spPr>
          <a:xfrm>
            <a:off x="502920" y="4617720"/>
            <a:ext cx="54864" cy="822960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52" name="Shape 44"/>
          <p:cNvSpPr/>
          <p:nvPr/>
        </p:nvSpPr>
        <p:spPr>
          <a:xfrm>
            <a:off x="557784" y="4617720"/>
            <a:ext cx="11128248" cy="822960"/>
          </a:xfrm>
          <a:prstGeom prst="rect">
            <a:avLst/>
          </a:prstGeom>
          <a:solidFill>
            <a:srgbClr val="FFF6EE"/>
          </a:solidFill>
          <a:ln/>
        </p:spPr>
      </p:sp>
      <p:pic>
        <p:nvPicPr>
          <p:cNvPr id="53" name="Image 5" descr="/home/claude/icons/alert_orang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4873752"/>
            <a:ext cx="274320" cy="274320"/>
          </a:xfrm>
          <a:prstGeom prst="rect">
            <a:avLst/>
          </a:prstGeom>
        </p:spPr>
      </p:pic>
      <p:sp>
        <p:nvSpPr>
          <p:cNvPr id="54" name="Text 45"/>
          <p:cNvSpPr/>
          <p:nvPr/>
        </p:nvSpPr>
        <p:spPr>
          <a:xfrm>
            <a:off x="1188720" y="475488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moderate class imbalance makes churn-focused evaluation important. Accuracy alone is not a sufficient measure of model quality.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84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155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Comparing Churn Classification Models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83112" cy="16459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6565392"/>
            <a:ext cx="11183112" cy="10973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661111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CHURN PREDICTION PLATFORM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972800" y="6611112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/ 12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1243584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candidate algorithms were developed and evaluated for the production churn-classification task.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1691640"/>
            <a:ext cx="5440680" cy="2880360"/>
          </a:xfrm>
          <a:prstGeom prst="roundRect">
            <a:avLst>
              <a:gd name="adj" fmla="val 1905"/>
            </a:avLst>
          </a:prstGeom>
          <a:solidFill>
            <a:srgbClr val="F5F7FA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691640"/>
            <a:ext cx="5440680" cy="548640"/>
          </a:xfrm>
          <a:prstGeom prst="rect">
            <a:avLst/>
          </a:prstGeom>
          <a:solidFill>
            <a:srgbClr val="2E6CA8"/>
          </a:solidFill>
          <a:ln/>
        </p:spPr>
      </p:sp>
      <p:pic>
        <p:nvPicPr>
          <p:cNvPr id="12" name="Image 0" descr="/home/claude/icons/activit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292608" cy="29260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61288" y="169164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77240" y="2542032"/>
            <a:ext cx="82296" cy="82296"/>
          </a:xfrm>
          <a:prstGeom prst="ellipse">
            <a:avLst/>
          </a:prstGeom>
          <a:solidFill>
            <a:srgbClr val="2E6CA8"/>
          </a:solidFill>
          <a:ln/>
        </p:spPr>
      </p:sp>
      <p:sp>
        <p:nvSpPr>
          <p:cNvPr id="15" name="Text 12"/>
          <p:cNvSpPr/>
          <p:nvPr/>
        </p:nvSpPr>
        <p:spPr>
          <a:xfrm>
            <a:off x="960120" y="24688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Simple, linear baseline model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77240" y="3017520"/>
            <a:ext cx="82296" cy="82296"/>
          </a:xfrm>
          <a:prstGeom prst="ellipse">
            <a:avLst/>
          </a:prstGeom>
          <a:solidFill>
            <a:srgbClr val="2E6CA8"/>
          </a:solidFill>
          <a:ln/>
        </p:spPr>
      </p:sp>
      <p:sp>
        <p:nvSpPr>
          <p:cNvPr id="17" name="Text 14"/>
          <p:cNvSpPr/>
          <p:nvPr/>
        </p:nvSpPr>
        <p:spPr>
          <a:xfrm>
            <a:off x="960120" y="29443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Highly explainable coefficients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77240" y="3493008"/>
            <a:ext cx="82296" cy="82296"/>
          </a:xfrm>
          <a:prstGeom prst="ellipse">
            <a:avLst/>
          </a:prstGeom>
          <a:solidFill>
            <a:srgbClr val="2E6CA8"/>
          </a:solidFill>
          <a:ln/>
        </p:spPr>
      </p:sp>
      <p:sp>
        <p:nvSpPr>
          <p:cNvPr id="19" name="Text 16"/>
          <p:cNvSpPr/>
          <p:nvPr/>
        </p:nvSpPr>
        <p:spPr>
          <a:xfrm>
            <a:off x="960120" y="341985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Well-suited for binary classification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77240" y="3968496"/>
            <a:ext cx="82296" cy="82296"/>
          </a:xfrm>
          <a:prstGeom prst="ellipse">
            <a:avLst/>
          </a:prstGeom>
          <a:solidFill>
            <a:srgbClr val="2E6CA8"/>
          </a:solidFill>
          <a:ln/>
        </p:spPr>
      </p:sp>
      <p:sp>
        <p:nvSpPr>
          <p:cNvPr id="21" name="Text 18"/>
          <p:cNvSpPr/>
          <p:nvPr/>
        </p:nvSpPr>
        <p:spPr>
          <a:xfrm>
            <a:off x="960120" y="389534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Easy to interpret for stakeholders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45352" y="1691640"/>
            <a:ext cx="5440680" cy="2880360"/>
          </a:xfrm>
          <a:prstGeom prst="roundRect">
            <a:avLst>
              <a:gd name="adj" fmla="val 1905"/>
            </a:avLst>
          </a:prstGeom>
          <a:solidFill>
            <a:srgbClr val="F5F7FA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45352" y="1691640"/>
            <a:ext cx="5440680" cy="548640"/>
          </a:xfrm>
          <a:prstGeom prst="rect">
            <a:avLst/>
          </a:prstGeom>
          <a:solidFill>
            <a:srgbClr val="0B8482"/>
          </a:solidFill>
          <a:ln/>
        </p:spPr>
      </p:sp>
      <p:pic>
        <p:nvPicPr>
          <p:cNvPr id="24" name="Image 1" descr="/home/claude/icons/gitbran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1828800"/>
            <a:ext cx="292608" cy="29260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903720" y="169164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Tree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6519672" y="2542032"/>
            <a:ext cx="82296" cy="82296"/>
          </a:xfrm>
          <a:prstGeom prst="ellipse">
            <a:avLst/>
          </a:prstGeom>
          <a:solidFill>
            <a:srgbClr val="0B8482"/>
          </a:solidFill>
          <a:ln/>
        </p:spPr>
      </p:sp>
      <p:sp>
        <p:nvSpPr>
          <p:cNvPr id="27" name="Text 23"/>
          <p:cNvSpPr/>
          <p:nvPr/>
        </p:nvSpPr>
        <p:spPr>
          <a:xfrm>
            <a:off x="6702552" y="24688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Captures non-linear decision boundaries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6519672" y="3017520"/>
            <a:ext cx="82296" cy="82296"/>
          </a:xfrm>
          <a:prstGeom prst="ellipse">
            <a:avLst/>
          </a:prstGeom>
          <a:solidFill>
            <a:srgbClr val="0B8482"/>
          </a:solidFill>
          <a:ln/>
        </p:spPr>
      </p:sp>
      <p:sp>
        <p:nvSpPr>
          <p:cNvPr id="29" name="Text 25"/>
          <p:cNvSpPr/>
          <p:nvPr/>
        </p:nvSpPr>
        <p:spPr>
          <a:xfrm>
            <a:off x="6702552" y="29443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Highly interpretable rule structure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6519672" y="3493008"/>
            <a:ext cx="82296" cy="82296"/>
          </a:xfrm>
          <a:prstGeom prst="ellipse">
            <a:avLst/>
          </a:prstGeom>
          <a:solidFill>
            <a:srgbClr val="0B8482"/>
          </a:solidFill>
          <a:ln/>
        </p:spPr>
      </p:sp>
      <p:sp>
        <p:nvSpPr>
          <p:cNvPr id="31" name="Text 27"/>
          <p:cNvSpPr/>
          <p:nvPr/>
        </p:nvSpPr>
        <p:spPr>
          <a:xfrm>
            <a:off x="6702552" y="341985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Rule-based decision paths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6519672" y="3968496"/>
            <a:ext cx="82296" cy="82296"/>
          </a:xfrm>
          <a:prstGeom prst="ellipse">
            <a:avLst/>
          </a:prstGeom>
          <a:solidFill>
            <a:srgbClr val="0B8482"/>
          </a:solidFill>
          <a:ln/>
        </p:spPr>
      </p:sp>
      <p:sp>
        <p:nvSpPr>
          <p:cNvPr id="33" name="Text 29"/>
          <p:cNvSpPr/>
          <p:nvPr/>
        </p:nvSpPr>
        <p:spPr>
          <a:xfrm>
            <a:off x="6702552" y="389534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Easy to explain business logic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502920" y="45994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B84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 CRITERIA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502920" y="4892040"/>
            <a:ext cx="2104949" cy="594360"/>
          </a:xfrm>
          <a:prstGeom prst="roundRect">
            <a:avLst>
              <a:gd name="adj" fmla="val 9231"/>
            </a:avLst>
          </a:prstGeom>
          <a:solidFill>
            <a:srgbClr val="13284A"/>
          </a:solidFill>
          <a:ln/>
        </p:spPr>
      </p:sp>
      <p:sp>
        <p:nvSpPr>
          <p:cNvPr id="36" name="Text 32"/>
          <p:cNvSpPr/>
          <p:nvPr/>
        </p:nvSpPr>
        <p:spPr>
          <a:xfrm>
            <a:off x="502920" y="4892040"/>
            <a:ext cx="2104949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2772461" y="4892040"/>
            <a:ext cx="2104949" cy="594360"/>
          </a:xfrm>
          <a:prstGeom prst="roundRect">
            <a:avLst>
              <a:gd name="adj" fmla="val 9231"/>
            </a:avLst>
          </a:prstGeom>
          <a:solidFill>
            <a:srgbClr val="13284A"/>
          </a:solidFill>
          <a:ln/>
        </p:spPr>
      </p:sp>
      <p:sp>
        <p:nvSpPr>
          <p:cNvPr id="38" name="Text 34"/>
          <p:cNvSpPr/>
          <p:nvPr/>
        </p:nvSpPr>
        <p:spPr>
          <a:xfrm>
            <a:off x="2772461" y="4892040"/>
            <a:ext cx="2104949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5042002" y="4892040"/>
            <a:ext cx="2104949" cy="594360"/>
          </a:xfrm>
          <a:prstGeom prst="roundRect">
            <a:avLst>
              <a:gd name="adj" fmla="val 9231"/>
            </a:avLst>
          </a:prstGeom>
          <a:solidFill>
            <a:srgbClr val="13284A"/>
          </a:solidFill>
          <a:ln/>
        </p:spPr>
      </p:sp>
      <p:sp>
        <p:nvSpPr>
          <p:cNvPr id="40" name="Text 36"/>
          <p:cNvSpPr/>
          <p:nvPr/>
        </p:nvSpPr>
        <p:spPr>
          <a:xfrm>
            <a:off x="5042002" y="4892040"/>
            <a:ext cx="2104949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Recall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7311542" y="4892040"/>
            <a:ext cx="2104949" cy="594360"/>
          </a:xfrm>
          <a:prstGeom prst="roundRect">
            <a:avLst>
              <a:gd name="adj" fmla="val 9231"/>
            </a:avLst>
          </a:prstGeom>
          <a:solidFill>
            <a:srgbClr val="13284A"/>
          </a:solidFill>
          <a:ln/>
        </p:spPr>
      </p:sp>
      <p:sp>
        <p:nvSpPr>
          <p:cNvPr id="42" name="Text 38"/>
          <p:cNvSpPr/>
          <p:nvPr/>
        </p:nvSpPr>
        <p:spPr>
          <a:xfrm>
            <a:off x="7311542" y="4892040"/>
            <a:ext cx="2104949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F1 Score</a:t>
            </a:r>
            <a:endParaRPr lang="en-US" sz="1100" dirty="0"/>
          </a:p>
        </p:txBody>
      </p:sp>
      <p:sp>
        <p:nvSpPr>
          <p:cNvPr id="43" name="Shape 39"/>
          <p:cNvSpPr/>
          <p:nvPr/>
        </p:nvSpPr>
        <p:spPr>
          <a:xfrm>
            <a:off x="9581083" y="4892040"/>
            <a:ext cx="2104949" cy="594360"/>
          </a:xfrm>
          <a:prstGeom prst="roundRect">
            <a:avLst>
              <a:gd name="adj" fmla="val 9231"/>
            </a:avLst>
          </a:prstGeom>
          <a:solidFill>
            <a:srgbClr val="13284A"/>
          </a:solidFill>
          <a:ln/>
        </p:spPr>
      </p:sp>
      <p:sp>
        <p:nvSpPr>
          <p:cNvPr id="44" name="Text 40"/>
          <p:cNvSpPr/>
          <p:nvPr/>
        </p:nvSpPr>
        <p:spPr>
          <a:xfrm>
            <a:off x="9581083" y="4892040"/>
            <a:ext cx="2104949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 Validation</a:t>
            </a:r>
            <a:endParaRPr lang="en-US" sz="1100" dirty="0"/>
          </a:p>
        </p:txBody>
      </p:sp>
      <p:sp>
        <p:nvSpPr>
          <p:cNvPr id="45" name="Text 41"/>
          <p:cNvSpPr/>
          <p:nvPr/>
        </p:nvSpPr>
        <p:spPr>
          <a:xfrm>
            <a:off x="502920" y="562356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Qualitative comparison framework — exact metrics assessed during model validation.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84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155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Selecting the Production Model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83112" cy="16459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6565392"/>
            <a:ext cx="11183112" cy="10973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661111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CHURN PREDICTION PLATFORM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972800" y="6611112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/ 12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126187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B84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SELECTION SCORECARD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1600200"/>
            <a:ext cx="11183112" cy="512064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1" name="Shape 9"/>
          <p:cNvSpPr/>
          <p:nvPr/>
        </p:nvSpPr>
        <p:spPr>
          <a:xfrm>
            <a:off x="8219267" y="1600200"/>
            <a:ext cx="3466765" cy="512064"/>
          </a:xfrm>
          <a:prstGeom prst="rect">
            <a:avLst/>
          </a:prstGeom>
          <a:solidFill>
            <a:srgbClr val="19375E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600200"/>
            <a:ext cx="4066703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B9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CRITERION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2503" y="1600200"/>
            <a:ext cx="3466765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19267" y="1600200"/>
            <a:ext cx="3466765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D4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TREE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112264"/>
            <a:ext cx="1118311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19267" y="2112264"/>
            <a:ext cx="3466765" cy="512064"/>
          </a:xfrm>
          <a:prstGeom prst="rect">
            <a:avLst/>
          </a:prstGeom>
          <a:solidFill>
            <a:srgbClr val="FBF3D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112264"/>
            <a:ext cx="4066703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Interpretability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2503" y="2112264"/>
            <a:ext cx="3466765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19267" y="2112264"/>
            <a:ext cx="3466765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2624328"/>
            <a:ext cx="11183112" cy="512064"/>
          </a:xfrm>
          <a:prstGeom prst="rect">
            <a:avLst/>
          </a:prstGeom>
          <a:solidFill>
            <a:srgbClr val="F5F7FA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19267" y="2624328"/>
            <a:ext cx="3466765" cy="512064"/>
          </a:xfrm>
          <a:prstGeom prst="rect">
            <a:avLst/>
          </a:prstGeom>
          <a:solidFill>
            <a:srgbClr val="FBF3D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2624328"/>
            <a:ext cx="4066703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Non-linear patterns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2503" y="2624328"/>
            <a:ext cx="3466765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19267" y="2624328"/>
            <a:ext cx="3466765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Strong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136392"/>
            <a:ext cx="1118311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19267" y="3136392"/>
            <a:ext cx="3466765" cy="512064"/>
          </a:xfrm>
          <a:prstGeom prst="rect">
            <a:avLst/>
          </a:prstGeom>
          <a:solidFill>
            <a:srgbClr val="FBF3D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3136392"/>
            <a:ext cx="4066703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Churn recall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2503" y="3136392"/>
            <a:ext cx="3466765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[Actual Recall]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19267" y="3136392"/>
            <a:ext cx="3466765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[Actual Recall]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3648456"/>
            <a:ext cx="11183112" cy="512064"/>
          </a:xfrm>
          <a:prstGeom prst="rect">
            <a:avLst/>
          </a:prstGeom>
          <a:solidFill>
            <a:srgbClr val="F5F7FA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19267" y="3648456"/>
            <a:ext cx="3466765" cy="512064"/>
          </a:xfrm>
          <a:prstGeom prst="rect">
            <a:avLst/>
          </a:prstGeom>
          <a:solidFill>
            <a:srgbClr val="FBF3D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3648456"/>
            <a:ext cx="4066703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F1 score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2503" y="3648456"/>
            <a:ext cx="3466765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[Actual F1]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219267" y="3648456"/>
            <a:ext cx="3466765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[Actual F1]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2920" y="4160520"/>
            <a:ext cx="1118311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19267" y="4160520"/>
            <a:ext cx="3466765" cy="512064"/>
          </a:xfrm>
          <a:prstGeom prst="rect">
            <a:avLst/>
          </a:prstGeom>
          <a:solidFill>
            <a:srgbClr val="FBF3D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4160520"/>
            <a:ext cx="4066703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Selected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52503" y="4160520"/>
            <a:ext cx="3466765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797202" y="4261104"/>
            <a:ext cx="310896" cy="310896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40" name="Text 38"/>
          <p:cNvSpPr/>
          <p:nvPr/>
        </p:nvSpPr>
        <p:spPr>
          <a:xfrm>
            <a:off x="9797202" y="42611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02920" y="4946904"/>
            <a:ext cx="54864" cy="77724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2" name="Shape 40"/>
          <p:cNvSpPr/>
          <p:nvPr/>
        </p:nvSpPr>
        <p:spPr>
          <a:xfrm>
            <a:off x="557784" y="4946904"/>
            <a:ext cx="11128248" cy="777240"/>
          </a:xfrm>
          <a:prstGeom prst="rect">
            <a:avLst/>
          </a:prstGeom>
          <a:solidFill>
            <a:srgbClr val="FBF3DF"/>
          </a:solidFill>
          <a:ln/>
        </p:spPr>
      </p:sp>
      <p:sp>
        <p:nvSpPr>
          <p:cNvPr id="43" name="Text 41"/>
          <p:cNvSpPr/>
          <p:nvPr/>
        </p:nvSpPr>
        <p:spPr>
          <a:xfrm>
            <a:off x="822960" y="505663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selection based on measured validation performance.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822960" y="536752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Decision Tree is presented as the selected model on the basis of churn-class recall, F1 performance, and business interpretability — to be confirmed against measured validation results.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84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155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Prediction to Actionable Customer Risk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83112" cy="16459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6565392"/>
            <a:ext cx="11183112" cy="10973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661111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CHURN PREDICTION PLATFORM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972800" y="6611112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126187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B84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MODEL-TO-DECISION FLOW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1536192"/>
            <a:ext cx="169621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2E6C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536192"/>
            <a:ext cx="1696212" cy="45720"/>
          </a:xfrm>
          <a:prstGeom prst="rect">
            <a:avLst/>
          </a:prstGeom>
          <a:solidFill>
            <a:srgbClr val="2E6CA8"/>
          </a:solidFill>
          <a:ln/>
        </p:spPr>
      </p:sp>
      <p:pic>
        <p:nvPicPr>
          <p:cNvPr id="12" name="Image 0" descr="/home/claude/icons/grid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5578" y="1664208"/>
            <a:ext cx="310896" cy="31089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48640" y="2011680"/>
            <a:ext cx="160477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199132" y="1700784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400300" y="1536192"/>
            <a:ext cx="169621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2E6CA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400300" y="1536192"/>
            <a:ext cx="1696212" cy="45720"/>
          </a:xfrm>
          <a:prstGeom prst="rect">
            <a:avLst/>
          </a:prstGeom>
          <a:solidFill>
            <a:srgbClr val="2E6CA8"/>
          </a:solidFill>
          <a:ln/>
        </p:spPr>
      </p:sp>
      <p:pic>
        <p:nvPicPr>
          <p:cNvPr id="17" name="Image 1" descr="/home/claude/icons/cpu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958" y="1664208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446020" y="2011680"/>
            <a:ext cx="160477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 Model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4096512" y="1700784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4297680" y="1536192"/>
            <a:ext cx="169621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0B848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297680" y="1536192"/>
            <a:ext cx="1696212" cy="45720"/>
          </a:xfrm>
          <a:prstGeom prst="rect">
            <a:avLst/>
          </a:prstGeom>
          <a:solidFill>
            <a:srgbClr val="0B8482"/>
          </a:solidFill>
          <a:ln/>
        </p:spPr>
      </p:sp>
      <p:pic>
        <p:nvPicPr>
          <p:cNvPr id="22" name="Image 2" descr="/home/claude/icons/settings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0338" y="1664208"/>
            <a:ext cx="310896" cy="31089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343400" y="2011680"/>
            <a:ext cx="160477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predict_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proba()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5993892" y="1700784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6195060" y="1536192"/>
            <a:ext cx="169621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0B8482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195060" y="1536192"/>
            <a:ext cx="1696212" cy="45720"/>
          </a:xfrm>
          <a:prstGeom prst="rect">
            <a:avLst/>
          </a:prstGeom>
          <a:solidFill>
            <a:srgbClr val="0B8482"/>
          </a:solidFill>
          <a:ln/>
        </p:spPr>
      </p:sp>
      <p:pic>
        <p:nvPicPr>
          <p:cNvPr id="27" name="Image 3" descr="/home/claude/icons/barchart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7718" y="1664208"/>
            <a:ext cx="310896" cy="31089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240780" y="2011680"/>
            <a:ext cx="160477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</a:t>
            </a:r>
            <a:endParaRPr lang="en-US" sz="850" dirty="0"/>
          </a:p>
        </p:txBody>
      </p:sp>
      <p:sp>
        <p:nvSpPr>
          <p:cNvPr id="29" name="Text 23"/>
          <p:cNvSpPr/>
          <p:nvPr/>
        </p:nvSpPr>
        <p:spPr>
          <a:xfrm>
            <a:off x="7891272" y="1700784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4"/>
          <p:cNvSpPr/>
          <p:nvPr/>
        </p:nvSpPr>
        <p:spPr>
          <a:xfrm>
            <a:off x="8092440" y="1536192"/>
            <a:ext cx="169621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8092440" y="1536192"/>
            <a:ext cx="1696212" cy="45720"/>
          </a:xfrm>
          <a:prstGeom prst="rect">
            <a:avLst/>
          </a:prstGeom>
          <a:solidFill>
            <a:srgbClr val="B8860B"/>
          </a:solidFill>
          <a:ln/>
        </p:spPr>
      </p:sp>
      <p:pic>
        <p:nvPicPr>
          <p:cNvPr id="32" name="Image 4" descr="/home/claude/icons/checksquare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5098" y="1664208"/>
            <a:ext cx="310896" cy="31089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8138160" y="2011680"/>
            <a:ext cx="160477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Prediction</a:t>
            </a:r>
            <a:endParaRPr lang="en-US" sz="850" dirty="0"/>
          </a:p>
        </p:txBody>
      </p:sp>
      <p:sp>
        <p:nvSpPr>
          <p:cNvPr id="34" name="Text 27"/>
          <p:cNvSpPr/>
          <p:nvPr/>
        </p:nvSpPr>
        <p:spPr>
          <a:xfrm>
            <a:off x="9788652" y="1700784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Shape 28"/>
          <p:cNvSpPr/>
          <p:nvPr/>
        </p:nvSpPr>
        <p:spPr>
          <a:xfrm>
            <a:off x="9989820" y="1536192"/>
            <a:ext cx="169621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9989820" y="1536192"/>
            <a:ext cx="1696212" cy="45720"/>
          </a:xfrm>
          <a:prstGeom prst="rect">
            <a:avLst/>
          </a:prstGeom>
          <a:solidFill>
            <a:srgbClr val="E8590C"/>
          </a:solidFill>
          <a:ln/>
        </p:spPr>
      </p:sp>
      <p:pic>
        <p:nvPicPr>
          <p:cNvPr id="37" name="Image 5" descr="/home/claude/icons/alert_oran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82478" y="1664208"/>
            <a:ext cx="310896" cy="310896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0035540" y="2011680"/>
            <a:ext cx="160477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High-Risk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</a:t>
            </a:r>
            <a:endParaRPr lang="en-US" sz="850" dirty="0"/>
          </a:p>
        </p:txBody>
      </p:sp>
      <p:sp>
        <p:nvSpPr>
          <p:cNvPr id="39" name="Shape 31"/>
          <p:cNvSpPr/>
          <p:nvPr/>
        </p:nvSpPr>
        <p:spPr>
          <a:xfrm>
            <a:off x="502920" y="2615184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3284A"/>
          </a:solidFill>
          <a:ln/>
        </p:spPr>
      </p:sp>
      <p:sp>
        <p:nvSpPr>
          <p:cNvPr id="40" name="Text 32"/>
          <p:cNvSpPr/>
          <p:nvPr/>
        </p:nvSpPr>
        <p:spPr>
          <a:xfrm>
            <a:off x="502920" y="261518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Score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2057400" y="2615184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3284A"/>
          </a:solidFill>
          <a:ln/>
        </p:spPr>
      </p:sp>
      <p:sp>
        <p:nvSpPr>
          <p:cNvPr id="42" name="Text 34"/>
          <p:cNvSpPr/>
          <p:nvPr/>
        </p:nvSpPr>
        <p:spPr>
          <a:xfrm>
            <a:off x="2057400" y="261518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Prediction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3611880" y="2615184"/>
            <a:ext cx="2779776" cy="310896"/>
          </a:xfrm>
          <a:prstGeom prst="roundRect">
            <a:avLst>
              <a:gd name="adj" fmla="val 50000"/>
            </a:avLst>
          </a:prstGeom>
          <a:solidFill>
            <a:srgbClr val="13284A"/>
          </a:solidFill>
          <a:ln/>
        </p:spPr>
      </p:sp>
      <p:sp>
        <p:nvSpPr>
          <p:cNvPr id="44" name="Text 36"/>
          <p:cNvSpPr/>
          <p:nvPr/>
        </p:nvSpPr>
        <p:spPr>
          <a:xfrm>
            <a:off x="3611880" y="2615184"/>
            <a:ext cx="27797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Confidence / Probability</a:t>
            </a:r>
            <a:endParaRPr lang="en-US" sz="1000" dirty="0"/>
          </a:p>
        </p:txBody>
      </p:sp>
      <p:sp>
        <p:nvSpPr>
          <p:cNvPr id="45" name="Text 37"/>
          <p:cNvSpPr/>
          <p:nvPr/>
        </p:nvSpPr>
        <p:spPr>
          <a:xfrm>
            <a:off x="502920" y="309067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B84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IMPORTANCE</a:t>
            </a:r>
            <a:endParaRPr lang="en-US" sz="1050" dirty="0"/>
          </a:p>
        </p:txBody>
      </p:sp>
      <p:sp>
        <p:nvSpPr>
          <p:cNvPr id="46" name="Shape 38"/>
          <p:cNvSpPr/>
          <p:nvPr/>
        </p:nvSpPr>
        <p:spPr>
          <a:xfrm>
            <a:off x="6675120" y="3035808"/>
            <a:ext cx="5029200" cy="329184"/>
          </a:xfrm>
          <a:prstGeom prst="roundRect">
            <a:avLst>
              <a:gd name="adj" fmla="val 50000"/>
            </a:avLst>
          </a:prstGeom>
          <a:solidFill>
            <a:srgbClr val="FFF6EE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6675120" y="3035808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— REPLACE WITH ACTUAL MODEL OUTPUT</a:t>
            </a:r>
            <a:endParaRPr lang="en-US" sz="850" dirty="0"/>
          </a:p>
        </p:txBody>
      </p:sp>
      <p:sp>
        <p:nvSpPr>
          <p:cNvPr id="48" name="Text 40"/>
          <p:cNvSpPr/>
          <p:nvPr/>
        </p:nvSpPr>
        <p:spPr>
          <a:xfrm>
            <a:off x="502920" y="345643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usage</a:t>
            </a:r>
            <a:endParaRPr lang="en-US" sz="1050" dirty="0"/>
          </a:p>
        </p:txBody>
      </p:sp>
      <p:sp>
        <p:nvSpPr>
          <p:cNvPr id="49" name="Shape 41"/>
          <p:cNvSpPr/>
          <p:nvPr/>
        </p:nvSpPr>
        <p:spPr>
          <a:xfrm>
            <a:off x="2743200" y="3493008"/>
            <a:ext cx="8229600" cy="164592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50" name="Shape 42"/>
          <p:cNvSpPr/>
          <p:nvPr/>
        </p:nvSpPr>
        <p:spPr>
          <a:xfrm>
            <a:off x="2743200" y="3493008"/>
            <a:ext cx="7242048" cy="164592"/>
          </a:xfrm>
          <a:prstGeom prst="rect">
            <a:avLst/>
          </a:prstGeom>
          <a:solidFill>
            <a:srgbClr val="0B8482"/>
          </a:solidFill>
          <a:ln/>
        </p:spPr>
      </p:sp>
      <p:sp>
        <p:nvSpPr>
          <p:cNvPr id="51" name="Text 43"/>
          <p:cNvSpPr/>
          <p:nvPr/>
        </p:nvSpPr>
        <p:spPr>
          <a:xfrm>
            <a:off x="502920" y="3803904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Charges</a:t>
            </a:r>
            <a:endParaRPr lang="en-US" sz="1050" dirty="0"/>
          </a:p>
        </p:txBody>
      </p:sp>
      <p:sp>
        <p:nvSpPr>
          <p:cNvPr id="52" name="Shape 44"/>
          <p:cNvSpPr/>
          <p:nvPr/>
        </p:nvSpPr>
        <p:spPr>
          <a:xfrm>
            <a:off x="2743200" y="3840480"/>
            <a:ext cx="8229600" cy="164592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53" name="Shape 45"/>
          <p:cNvSpPr/>
          <p:nvPr/>
        </p:nvSpPr>
        <p:spPr>
          <a:xfrm>
            <a:off x="2743200" y="3840480"/>
            <a:ext cx="5925312" cy="164592"/>
          </a:xfrm>
          <a:prstGeom prst="rect">
            <a:avLst/>
          </a:prstGeom>
          <a:solidFill>
            <a:srgbClr val="0B8482"/>
          </a:solidFill>
          <a:ln/>
        </p:spPr>
      </p:sp>
      <p:sp>
        <p:nvSpPr>
          <p:cNvPr id="54" name="Text 46"/>
          <p:cNvSpPr/>
          <p:nvPr/>
        </p:nvSpPr>
        <p:spPr>
          <a:xfrm>
            <a:off x="502920" y="4151376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behaviour</a:t>
            </a:r>
            <a:endParaRPr lang="en-US" sz="1050" dirty="0"/>
          </a:p>
        </p:txBody>
      </p:sp>
      <p:sp>
        <p:nvSpPr>
          <p:cNvPr id="55" name="Shape 47"/>
          <p:cNvSpPr/>
          <p:nvPr/>
        </p:nvSpPr>
        <p:spPr>
          <a:xfrm>
            <a:off x="2743200" y="4187952"/>
            <a:ext cx="8229600" cy="164592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56" name="Shape 48"/>
          <p:cNvSpPr/>
          <p:nvPr/>
        </p:nvSpPr>
        <p:spPr>
          <a:xfrm>
            <a:off x="2743200" y="4187952"/>
            <a:ext cx="4773168" cy="164592"/>
          </a:xfrm>
          <a:prstGeom prst="rect">
            <a:avLst/>
          </a:prstGeom>
          <a:solidFill>
            <a:srgbClr val="0B8482"/>
          </a:solidFill>
          <a:ln/>
        </p:spPr>
      </p:sp>
      <p:sp>
        <p:nvSpPr>
          <p:cNvPr id="57" name="Text 49"/>
          <p:cNvSpPr/>
          <p:nvPr/>
        </p:nvSpPr>
        <p:spPr>
          <a:xfrm>
            <a:off x="502920" y="4498848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tenure</a:t>
            </a:r>
            <a:endParaRPr lang="en-US" sz="1050" dirty="0"/>
          </a:p>
        </p:txBody>
      </p:sp>
      <p:sp>
        <p:nvSpPr>
          <p:cNvPr id="58" name="Shape 50"/>
          <p:cNvSpPr/>
          <p:nvPr/>
        </p:nvSpPr>
        <p:spPr>
          <a:xfrm>
            <a:off x="2743200" y="4535424"/>
            <a:ext cx="8229600" cy="164592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59" name="Shape 51"/>
          <p:cNvSpPr/>
          <p:nvPr/>
        </p:nvSpPr>
        <p:spPr>
          <a:xfrm>
            <a:off x="2743200" y="4535424"/>
            <a:ext cx="3703320" cy="164592"/>
          </a:xfrm>
          <a:prstGeom prst="rect">
            <a:avLst/>
          </a:prstGeom>
          <a:solidFill>
            <a:srgbClr val="0B8482"/>
          </a:solidFill>
          <a:ln/>
        </p:spPr>
      </p:sp>
      <p:sp>
        <p:nvSpPr>
          <p:cNvPr id="60" name="Text 52"/>
          <p:cNvSpPr/>
          <p:nvPr/>
        </p:nvSpPr>
        <p:spPr>
          <a:xfrm>
            <a:off x="502920" y="484632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adoption</a:t>
            </a:r>
            <a:endParaRPr lang="en-US" sz="1050" dirty="0"/>
          </a:p>
        </p:txBody>
      </p:sp>
      <p:sp>
        <p:nvSpPr>
          <p:cNvPr id="61" name="Shape 53"/>
          <p:cNvSpPr/>
          <p:nvPr/>
        </p:nvSpPr>
        <p:spPr>
          <a:xfrm>
            <a:off x="2743200" y="4882896"/>
            <a:ext cx="8229600" cy="164592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62" name="Shape 54"/>
          <p:cNvSpPr/>
          <p:nvPr/>
        </p:nvSpPr>
        <p:spPr>
          <a:xfrm>
            <a:off x="2743200" y="4882896"/>
            <a:ext cx="2468880" cy="164592"/>
          </a:xfrm>
          <a:prstGeom prst="rect">
            <a:avLst/>
          </a:prstGeom>
          <a:solidFill>
            <a:srgbClr val="0B8482"/>
          </a:solidFill>
          <a:ln/>
        </p:spPr>
      </p:sp>
      <p:sp>
        <p:nvSpPr>
          <p:cNvPr id="63" name="Shape 55"/>
          <p:cNvSpPr/>
          <p:nvPr/>
        </p:nvSpPr>
        <p:spPr>
          <a:xfrm>
            <a:off x="502920" y="5303520"/>
            <a:ext cx="54864" cy="493776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64" name="Shape 56"/>
          <p:cNvSpPr/>
          <p:nvPr/>
        </p:nvSpPr>
        <p:spPr>
          <a:xfrm>
            <a:off x="557784" y="5303520"/>
            <a:ext cx="11128248" cy="493776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5" name="Text 57"/>
          <p:cNvSpPr/>
          <p:nvPr/>
        </p:nvSpPr>
        <p:spPr>
          <a:xfrm>
            <a:off x="822960" y="5303520"/>
            <a:ext cx="10607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platform converts model probability into a prioritized customer-risk signal.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84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155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ML Model to Production-Ready Application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83112" cy="16459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6565392"/>
            <a:ext cx="11183112" cy="10973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661111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CHURN PREDICTION PLATFORM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972800" y="6611112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B84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SERVING ARCHITECTURE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1481328"/>
            <a:ext cx="1256386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1B3A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481328"/>
            <a:ext cx="1256386" cy="45720"/>
          </a:xfrm>
          <a:prstGeom prst="rect">
            <a:avLst/>
          </a:prstGeom>
          <a:solidFill>
            <a:srgbClr val="1B3A63"/>
          </a:solidFill>
          <a:ln/>
        </p:spPr>
      </p:sp>
      <p:pic>
        <p:nvPicPr>
          <p:cNvPr id="12" name="Image 0" descr="/home/claude/icons/monito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665" y="1609344"/>
            <a:ext cx="310896" cy="31089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48640" y="1956816"/>
            <a:ext cx="116494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759306" y="1632204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869034" y="1481328"/>
            <a:ext cx="1256386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1B3A6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869034" y="1481328"/>
            <a:ext cx="1256386" cy="45720"/>
          </a:xfrm>
          <a:prstGeom prst="rect">
            <a:avLst/>
          </a:prstGeom>
          <a:solidFill>
            <a:srgbClr val="1B3A63"/>
          </a:solidFill>
          <a:ln/>
        </p:spPr>
      </p:sp>
      <p:pic>
        <p:nvPicPr>
          <p:cNvPr id="17" name="Image 1" descr="/home/claude/icons/server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778" y="1609344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914754" y="1956816"/>
            <a:ext cx="116494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3125419" y="1632204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3235147" y="1481328"/>
            <a:ext cx="1256386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0B848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235147" y="1481328"/>
            <a:ext cx="1256386" cy="45720"/>
          </a:xfrm>
          <a:prstGeom prst="rect">
            <a:avLst/>
          </a:prstGeom>
          <a:solidFill>
            <a:srgbClr val="0B8482"/>
          </a:solidFill>
          <a:ln/>
        </p:spPr>
      </p:sp>
      <p:pic>
        <p:nvPicPr>
          <p:cNvPr id="22" name="Image 2" descr="/home/claude/icons/cpu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892" y="1609344"/>
            <a:ext cx="310896" cy="31089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280867" y="1956816"/>
            <a:ext cx="116494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 Model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4491533" y="1632204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4601261" y="1481328"/>
            <a:ext cx="1256386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0B8482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601261" y="1481328"/>
            <a:ext cx="1256386" cy="45720"/>
          </a:xfrm>
          <a:prstGeom prst="rect">
            <a:avLst/>
          </a:prstGeom>
          <a:solidFill>
            <a:srgbClr val="0B8482"/>
          </a:solidFill>
          <a:ln/>
        </p:spPr>
      </p:sp>
      <p:pic>
        <p:nvPicPr>
          <p:cNvPr id="27" name="Image 3" descr="/home/claude/icons/barchart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006" y="1609344"/>
            <a:ext cx="310896" cy="31089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646981" y="1956816"/>
            <a:ext cx="116494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Prediction /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Data</a:t>
            </a:r>
            <a:endParaRPr lang="en-US" sz="850" dirty="0"/>
          </a:p>
        </p:txBody>
      </p:sp>
      <p:sp>
        <p:nvSpPr>
          <p:cNvPr id="29" name="Text 23"/>
          <p:cNvSpPr/>
          <p:nvPr/>
        </p:nvSpPr>
        <p:spPr>
          <a:xfrm>
            <a:off x="5857646" y="1632204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4"/>
          <p:cNvSpPr/>
          <p:nvPr/>
        </p:nvSpPr>
        <p:spPr>
          <a:xfrm>
            <a:off x="5967374" y="1481328"/>
            <a:ext cx="1256386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5967374" y="1481328"/>
            <a:ext cx="1256386" cy="45720"/>
          </a:xfrm>
          <a:prstGeom prst="rect">
            <a:avLst/>
          </a:prstGeom>
          <a:solidFill>
            <a:srgbClr val="B8860B"/>
          </a:solidFill>
          <a:ln/>
        </p:spPr>
      </p:sp>
      <p:pic>
        <p:nvPicPr>
          <p:cNvPr id="32" name="Image 4" descr="/home/claude/icons/users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0119" y="1609344"/>
            <a:ext cx="310896" cy="31089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013094" y="1956816"/>
            <a:ext cx="116494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</a:t>
            </a:r>
            <a:endParaRPr lang="en-US" sz="850" dirty="0"/>
          </a:p>
        </p:txBody>
      </p:sp>
      <p:sp>
        <p:nvSpPr>
          <p:cNvPr id="34" name="Shape 27"/>
          <p:cNvSpPr/>
          <p:nvPr/>
        </p:nvSpPr>
        <p:spPr>
          <a:xfrm>
            <a:off x="502920" y="2551176"/>
            <a:ext cx="6720840" cy="548640"/>
          </a:xfrm>
          <a:prstGeom prst="roundRect">
            <a:avLst>
              <a:gd name="adj" fmla="val 10000"/>
            </a:avLst>
          </a:prstGeom>
          <a:solidFill>
            <a:srgbClr val="2B2410"/>
          </a:solidFill>
          <a:ln/>
        </p:spPr>
      </p:sp>
      <p:pic>
        <p:nvPicPr>
          <p:cNvPr id="35" name="Image 5" descr="/home/claude/icons/repeat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688336"/>
            <a:ext cx="274320" cy="27432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005840" y="2551176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D4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Airflow DAG</a:t>
            </a: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2971800" y="2551176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C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1400" dirty="0"/>
          </a:p>
        </p:txBody>
      </p:sp>
      <p:sp>
        <p:nvSpPr>
          <p:cNvPr id="38" name="Text 30"/>
          <p:cNvSpPr/>
          <p:nvPr/>
        </p:nvSpPr>
        <p:spPr>
          <a:xfrm>
            <a:off x="3063240" y="2551176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D4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Batch Scoring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5029200" y="2551176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C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1400" dirty="0"/>
          </a:p>
        </p:txBody>
      </p:sp>
      <p:sp>
        <p:nvSpPr>
          <p:cNvPr id="40" name="Text 32"/>
          <p:cNvSpPr/>
          <p:nvPr/>
        </p:nvSpPr>
        <p:spPr>
          <a:xfrm>
            <a:off x="5120640" y="2551176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D4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Updated Predictions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3863340" y="2551176"/>
            <a:ext cx="0" cy="-292608"/>
          </a:xfrm>
          <a:prstGeom prst="line">
            <a:avLst/>
          </a:prstGeom>
          <a:noFill/>
          <a:ln w="15875">
            <a:solidFill>
              <a:srgbClr val="B8860B"/>
            </a:solidFill>
            <a:prstDash val="dash"/>
            <a:tailEnd type="triangle"/>
          </a:ln>
        </p:spPr>
      </p:sp>
      <p:sp>
        <p:nvSpPr>
          <p:cNvPr id="42" name="Shape 34"/>
          <p:cNvSpPr/>
          <p:nvPr/>
        </p:nvSpPr>
        <p:spPr>
          <a:xfrm>
            <a:off x="502920" y="3374136"/>
            <a:ext cx="6720840" cy="1783080"/>
          </a:xfrm>
          <a:prstGeom prst="roundRect">
            <a:avLst>
              <a:gd name="adj" fmla="val 307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704088" y="3502152"/>
            <a:ext cx="6355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8FA3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 ENDPOINTS</a:t>
            </a:r>
            <a:endParaRPr lang="en-US" sz="950" dirty="0"/>
          </a:p>
        </p:txBody>
      </p:sp>
      <p:sp>
        <p:nvSpPr>
          <p:cNvPr id="44" name="Shape 36"/>
          <p:cNvSpPr/>
          <p:nvPr/>
        </p:nvSpPr>
        <p:spPr>
          <a:xfrm>
            <a:off x="704088" y="3794760"/>
            <a:ext cx="566928" cy="237744"/>
          </a:xfrm>
          <a:prstGeom prst="roundRect">
            <a:avLst>
              <a:gd name="adj" fmla="val 19231"/>
            </a:avLst>
          </a:prstGeom>
          <a:solidFill>
            <a:srgbClr val="0EA5A3"/>
          </a:solidFill>
          <a:ln/>
        </p:spPr>
      </p:sp>
      <p:sp>
        <p:nvSpPr>
          <p:cNvPr id="45" name="Text 37"/>
          <p:cNvSpPr/>
          <p:nvPr/>
        </p:nvSpPr>
        <p:spPr>
          <a:xfrm>
            <a:off x="704088" y="3794760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</a:t>
            </a:r>
            <a:endParaRPr lang="en-US" sz="900" dirty="0"/>
          </a:p>
        </p:txBody>
      </p:sp>
      <p:sp>
        <p:nvSpPr>
          <p:cNvPr id="46" name="Text 38"/>
          <p:cNvSpPr/>
          <p:nvPr/>
        </p:nvSpPr>
        <p:spPr>
          <a:xfrm>
            <a:off x="1380744" y="3794760"/>
            <a:ext cx="5623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/churn/summary</a:t>
            </a:r>
            <a:endParaRPr lang="en-US" sz="1150" dirty="0"/>
          </a:p>
        </p:txBody>
      </p:sp>
      <p:sp>
        <p:nvSpPr>
          <p:cNvPr id="47" name="Shape 39"/>
          <p:cNvSpPr/>
          <p:nvPr/>
        </p:nvSpPr>
        <p:spPr>
          <a:xfrm>
            <a:off x="704088" y="4069080"/>
            <a:ext cx="566928" cy="237744"/>
          </a:xfrm>
          <a:prstGeom prst="roundRect">
            <a:avLst>
              <a:gd name="adj" fmla="val 19231"/>
            </a:avLst>
          </a:prstGeom>
          <a:solidFill>
            <a:srgbClr val="0EA5A3"/>
          </a:solidFill>
          <a:ln/>
        </p:spPr>
      </p:sp>
      <p:sp>
        <p:nvSpPr>
          <p:cNvPr id="48" name="Text 40"/>
          <p:cNvSpPr/>
          <p:nvPr/>
        </p:nvSpPr>
        <p:spPr>
          <a:xfrm>
            <a:off x="704088" y="4069080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</a:t>
            </a:r>
            <a:endParaRPr lang="en-US" sz="900" dirty="0"/>
          </a:p>
        </p:txBody>
      </p:sp>
      <p:sp>
        <p:nvSpPr>
          <p:cNvPr id="49" name="Text 41"/>
          <p:cNvSpPr/>
          <p:nvPr/>
        </p:nvSpPr>
        <p:spPr>
          <a:xfrm>
            <a:off x="1380744" y="4069080"/>
            <a:ext cx="5623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/customers/high-risk</a:t>
            </a:r>
            <a:endParaRPr lang="en-US" sz="1150" dirty="0"/>
          </a:p>
        </p:txBody>
      </p:sp>
      <p:sp>
        <p:nvSpPr>
          <p:cNvPr id="50" name="Shape 42"/>
          <p:cNvSpPr/>
          <p:nvPr/>
        </p:nvSpPr>
        <p:spPr>
          <a:xfrm>
            <a:off x="704088" y="4343400"/>
            <a:ext cx="566928" cy="237744"/>
          </a:xfrm>
          <a:prstGeom prst="roundRect">
            <a:avLst>
              <a:gd name="adj" fmla="val 19231"/>
            </a:avLst>
          </a:prstGeom>
          <a:solidFill>
            <a:srgbClr val="0EA5A3"/>
          </a:solidFill>
          <a:ln/>
        </p:spPr>
      </p:sp>
      <p:sp>
        <p:nvSpPr>
          <p:cNvPr id="51" name="Text 43"/>
          <p:cNvSpPr/>
          <p:nvPr/>
        </p:nvSpPr>
        <p:spPr>
          <a:xfrm>
            <a:off x="704088" y="4343400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</a:t>
            </a:r>
            <a:endParaRPr lang="en-US" sz="900" dirty="0"/>
          </a:p>
        </p:txBody>
      </p:sp>
      <p:sp>
        <p:nvSpPr>
          <p:cNvPr id="52" name="Text 44"/>
          <p:cNvSpPr/>
          <p:nvPr/>
        </p:nvSpPr>
        <p:spPr>
          <a:xfrm>
            <a:off x="1380744" y="4343400"/>
            <a:ext cx="5623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/customer/{id}</a:t>
            </a:r>
            <a:endParaRPr lang="en-US" sz="1150" dirty="0"/>
          </a:p>
        </p:txBody>
      </p:sp>
      <p:sp>
        <p:nvSpPr>
          <p:cNvPr id="53" name="Shape 45"/>
          <p:cNvSpPr/>
          <p:nvPr/>
        </p:nvSpPr>
        <p:spPr>
          <a:xfrm>
            <a:off x="704088" y="4617720"/>
            <a:ext cx="566928" cy="237744"/>
          </a:xfrm>
          <a:prstGeom prst="roundRect">
            <a:avLst>
              <a:gd name="adj" fmla="val 19231"/>
            </a:avLst>
          </a:prstGeom>
          <a:solidFill>
            <a:srgbClr val="0EA5A3"/>
          </a:solidFill>
          <a:ln/>
        </p:spPr>
      </p:sp>
      <p:sp>
        <p:nvSpPr>
          <p:cNvPr id="54" name="Text 46"/>
          <p:cNvSpPr/>
          <p:nvPr/>
        </p:nvSpPr>
        <p:spPr>
          <a:xfrm>
            <a:off x="704088" y="4617720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</a:t>
            </a:r>
            <a:endParaRPr lang="en-US" sz="900" dirty="0"/>
          </a:p>
        </p:txBody>
      </p:sp>
      <p:sp>
        <p:nvSpPr>
          <p:cNvPr id="55" name="Text 47"/>
          <p:cNvSpPr/>
          <p:nvPr/>
        </p:nvSpPr>
        <p:spPr>
          <a:xfrm>
            <a:off x="1380744" y="4617720"/>
            <a:ext cx="5623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/customer/{id}/features</a:t>
            </a:r>
            <a:endParaRPr lang="en-US" sz="1150" dirty="0"/>
          </a:p>
        </p:txBody>
      </p:sp>
      <p:sp>
        <p:nvSpPr>
          <p:cNvPr id="56" name="Shape 48"/>
          <p:cNvSpPr/>
          <p:nvPr/>
        </p:nvSpPr>
        <p:spPr>
          <a:xfrm>
            <a:off x="704088" y="4892040"/>
            <a:ext cx="566928" cy="237744"/>
          </a:xfrm>
          <a:prstGeom prst="roundRect">
            <a:avLst>
              <a:gd name="adj" fmla="val 19231"/>
            </a:avLst>
          </a:prstGeom>
          <a:solidFill>
            <a:srgbClr val="E8590C"/>
          </a:solidFill>
          <a:ln/>
        </p:spPr>
      </p:sp>
      <p:sp>
        <p:nvSpPr>
          <p:cNvPr id="57" name="Text 49"/>
          <p:cNvSpPr/>
          <p:nvPr/>
        </p:nvSpPr>
        <p:spPr>
          <a:xfrm>
            <a:off x="704088" y="4892040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</a:t>
            </a:r>
            <a:endParaRPr lang="en-US" sz="900" dirty="0"/>
          </a:p>
        </p:txBody>
      </p:sp>
      <p:sp>
        <p:nvSpPr>
          <p:cNvPr id="58" name="Text 50"/>
          <p:cNvSpPr/>
          <p:nvPr/>
        </p:nvSpPr>
        <p:spPr>
          <a:xfrm>
            <a:off x="1380744" y="4892040"/>
            <a:ext cx="5623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/predict-churn</a:t>
            </a:r>
            <a:endParaRPr lang="en-US" sz="1150" dirty="0"/>
          </a:p>
        </p:txBody>
      </p:sp>
      <p:sp>
        <p:nvSpPr>
          <p:cNvPr id="59" name="Shape 51"/>
          <p:cNvSpPr/>
          <p:nvPr/>
        </p:nvSpPr>
        <p:spPr>
          <a:xfrm>
            <a:off x="7498080" y="1481328"/>
            <a:ext cx="4187952" cy="3675888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60" name="Shape 52"/>
          <p:cNvSpPr/>
          <p:nvPr/>
        </p:nvSpPr>
        <p:spPr>
          <a:xfrm>
            <a:off x="7498080" y="1481328"/>
            <a:ext cx="420624" cy="3675888"/>
          </a:xfrm>
          <a:prstGeom prst="rect">
            <a:avLst/>
          </a:prstGeom>
          <a:solidFill>
            <a:srgbClr val="0B1F3A"/>
          </a:solidFill>
          <a:ln/>
        </p:spPr>
      </p:sp>
      <p:pic>
        <p:nvPicPr>
          <p:cNvPr id="61" name="Image 6" descr="/home/claude/icons/grid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7808" y="1709928"/>
            <a:ext cx="201168" cy="201168"/>
          </a:xfrm>
          <a:prstGeom prst="rect">
            <a:avLst/>
          </a:prstGeom>
        </p:spPr>
      </p:pic>
      <p:pic>
        <p:nvPicPr>
          <p:cNvPr id="62" name="Image 7" descr="/home/claude/icons/users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07808" y="2167128"/>
            <a:ext cx="201168" cy="201168"/>
          </a:xfrm>
          <a:prstGeom prst="rect">
            <a:avLst/>
          </a:prstGeom>
        </p:spPr>
      </p:pic>
      <p:pic>
        <p:nvPicPr>
          <p:cNvPr id="63" name="Image 8" descr="/home/claude/icons/alert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07808" y="2624328"/>
            <a:ext cx="201168" cy="201168"/>
          </a:xfrm>
          <a:prstGeom prst="rect">
            <a:avLst/>
          </a:prstGeom>
        </p:spPr>
      </p:pic>
      <p:pic>
        <p:nvPicPr>
          <p:cNvPr id="64" name="Image 9" descr="/home/claude/icons/settings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07808" y="3081528"/>
            <a:ext cx="201168" cy="201168"/>
          </a:xfrm>
          <a:prstGeom prst="rect">
            <a:avLst/>
          </a:prstGeom>
        </p:spPr>
      </p:pic>
      <p:sp>
        <p:nvSpPr>
          <p:cNvPr id="65" name="Text 53"/>
          <p:cNvSpPr/>
          <p:nvPr/>
        </p:nvSpPr>
        <p:spPr>
          <a:xfrm>
            <a:off x="8083296" y="1591056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Churn Risk Dashboard</a:t>
            </a:r>
            <a:endParaRPr lang="en-US" sz="1250" dirty="0"/>
          </a:p>
        </p:txBody>
      </p:sp>
      <p:sp>
        <p:nvSpPr>
          <p:cNvPr id="66" name="Shape 54"/>
          <p:cNvSpPr/>
          <p:nvPr/>
        </p:nvSpPr>
        <p:spPr>
          <a:xfrm>
            <a:off x="11411712" y="1627632"/>
            <a:ext cx="118872" cy="118872"/>
          </a:xfrm>
          <a:prstGeom prst="ellipse">
            <a:avLst/>
          </a:prstGeom>
          <a:solidFill>
            <a:srgbClr val="0EA5A3"/>
          </a:solidFill>
          <a:ln/>
        </p:spPr>
      </p:sp>
      <p:sp>
        <p:nvSpPr>
          <p:cNvPr id="67" name="Text 55"/>
          <p:cNvSpPr/>
          <p:nvPr/>
        </p:nvSpPr>
        <p:spPr>
          <a:xfrm>
            <a:off x="10789920" y="1572768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84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</a:t>
            </a:r>
            <a:endParaRPr lang="en-US" sz="850" dirty="0"/>
          </a:p>
        </p:txBody>
      </p:sp>
      <p:sp>
        <p:nvSpPr>
          <p:cNvPr id="68" name="Shape 56"/>
          <p:cNvSpPr/>
          <p:nvPr/>
        </p:nvSpPr>
        <p:spPr>
          <a:xfrm>
            <a:off x="8101584" y="1956816"/>
            <a:ext cx="1103376" cy="566928"/>
          </a:xfrm>
          <a:prstGeom prst="roundRect">
            <a:avLst>
              <a:gd name="adj" fmla="val 9677"/>
            </a:avLst>
          </a:prstGeom>
          <a:solidFill>
            <a:srgbClr val="F5F7FA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69" name="Shape 57"/>
          <p:cNvSpPr/>
          <p:nvPr/>
        </p:nvSpPr>
        <p:spPr>
          <a:xfrm>
            <a:off x="8101584" y="1956816"/>
            <a:ext cx="1103376" cy="4114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70" name="Text 58"/>
          <p:cNvSpPr/>
          <p:nvPr/>
        </p:nvSpPr>
        <p:spPr>
          <a:xfrm>
            <a:off x="8156448" y="2048256"/>
            <a:ext cx="9936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Customers</a:t>
            </a:r>
            <a:endParaRPr lang="en-US" sz="800" dirty="0"/>
          </a:p>
        </p:txBody>
      </p:sp>
      <p:sp>
        <p:nvSpPr>
          <p:cNvPr id="71" name="Shape 59"/>
          <p:cNvSpPr/>
          <p:nvPr/>
        </p:nvSpPr>
        <p:spPr>
          <a:xfrm>
            <a:off x="9296400" y="1956816"/>
            <a:ext cx="1103376" cy="566928"/>
          </a:xfrm>
          <a:prstGeom prst="roundRect">
            <a:avLst>
              <a:gd name="adj" fmla="val 9677"/>
            </a:avLst>
          </a:prstGeom>
          <a:solidFill>
            <a:srgbClr val="F5F7FA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72" name="Shape 60"/>
          <p:cNvSpPr/>
          <p:nvPr/>
        </p:nvSpPr>
        <p:spPr>
          <a:xfrm>
            <a:off x="9296400" y="1956816"/>
            <a:ext cx="1103376" cy="41148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73" name="Text 61"/>
          <p:cNvSpPr/>
          <p:nvPr/>
        </p:nvSpPr>
        <p:spPr>
          <a:xfrm>
            <a:off x="9351264" y="2048256"/>
            <a:ext cx="9936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Churn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Rate</a:t>
            </a:r>
            <a:endParaRPr lang="en-US" sz="800" dirty="0"/>
          </a:p>
        </p:txBody>
      </p:sp>
      <p:sp>
        <p:nvSpPr>
          <p:cNvPr id="74" name="Shape 62"/>
          <p:cNvSpPr/>
          <p:nvPr/>
        </p:nvSpPr>
        <p:spPr>
          <a:xfrm>
            <a:off x="10491216" y="1956816"/>
            <a:ext cx="1103376" cy="566928"/>
          </a:xfrm>
          <a:prstGeom prst="roundRect">
            <a:avLst>
              <a:gd name="adj" fmla="val 9677"/>
            </a:avLst>
          </a:prstGeom>
          <a:solidFill>
            <a:srgbClr val="F5F7FA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75" name="Shape 63"/>
          <p:cNvSpPr/>
          <p:nvPr/>
        </p:nvSpPr>
        <p:spPr>
          <a:xfrm>
            <a:off x="10491216" y="1956816"/>
            <a:ext cx="1103376" cy="41148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76" name="Text 64"/>
          <p:cNvSpPr/>
          <p:nvPr/>
        </p:nvSpPr>
        <p:spPr>
          <a:xfrm>
            <a:off x="10546080" y="2048256"/>
            <a:ext cx="9936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High-Risk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Segment</a:t>
            </a:r>
            <a:endParaRPr lang="en-US" sz="800" dirty="0"/>
          </a:p>
        </p:txBody>
      </p:sp>
      <p:sp>
        <p:nvSpPr>
          <p:cNvPr id="77" name="Text 65"/>
          <p:cNvSpPr/>
          <p:nvPr/>
        </p:nvSpPr>
        <p:spPr>
          <a:xfrm>
            <a:off x="8101584" y="2706624"/>
            <a:ext cx="3401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HIGH-RISK CUSTOMERS</a:t>
            </a:r>
            <a:endParaRPr lang="en-US" sz="800" dirty="0"/>
          </a:p>
        </p:txBody>
      </p:sp>
      <p:sp>
        <p:nvSpPr>
          <p:cNvPr id="78" name="Shape 66"/>
          <p:cNvSpPr/>
          <p:nvPr/>
        </p:nvSpPr>
        <p:spPr>
          <a:xfrm>
            <a:off x="8101584" y="2926080"/>
            <a:ext cx="3401568" cy="201168"/>
          </a:xfrm>
          <a:prstGeom prst="rect">
            <a:avLst/>
          </a:prstGeom>
          <a:solidFill>
            <a:srgbClr val="13284A"/>
          </a:solidFill>
          <a:ln/>
        </p:spPr>
      </p:sp>
      <p:sp>
        <p:nvSpPr>
          <p:cNvPr id="79" name="Text 67"/>
          <p:cNvSpPr/>
          <p:nvPr/>
        </p:nvSpPr>
        <p:spPr>
          <a:xfrm>
            <a:off x="8147304" y="2926080"/>
            <a:ext cx="126918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</a:t>
            </a:r>
            <a:endParaRPr lang="en-US" sz="750" dirty="0"/>
          </a:p>
        </p:txBody>
      </p:sp>
      <p:sp>
        <p:nvSpPr>
          <p:cNvPr id="80" name="Text 68"/>
          <p:cNvSpPr/>
          <p:nvPr/>
        </p:nvSpPr>
        <p:spPr>
          <a:xfrm>
            <a:off x="9507931" y="2926080"/>
            <a:ext cx="92903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Level</a:t>
            </a:r>
            <a:endParaRPr lang="en-US" sz="750" dirty="0"/>
          </a:p>
        </p:txBody>
      </p:sp>
      <p:sp>
        <p:nvSpPr>
          <p:cNvPr id="81" name="Text 69"/>
          <p:cNvSpPr/>
          <p:nvPr/>
        </p:nvSpPr>
        <p:spPr>
          <a:xfrm>
            <a:off x="10528402" y="2926080"/>
            <a:ext cx="92903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Prediction</a:t>
            </a:r>
            <a:endParaRPr lang="en-US" sz="750" dirty="0"/>
          </a:p>
        </p:txBody>
      </p:sp>
      <p:sp>
        <p:nvSpPr>
          <p:cNvPr id="82" name="Shape 70"/>
          <p:cNvSpPr/>
          <p:nvPr/>
        </p:nvSpPr>
        <p:spPr>
          <a:xfrm>
            <a:off x="8101584" y="3127248"/>
            <a:ext cx="340156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83" name="Text 71"/>
          <p:cNvSpPr/>
          <p:nvPr/>
        </p:nvSpPr>
        <p:spPr>
          <a:xfrm>
            <a:off x="8147304" y="3127248"/>
            <a:ext cx="126918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A</a:t>
            </a:r>
            <a:endParaRPr lang="en-US" sz="800" dirty="0"/>
          </a:p>
        </p:txBody>
      </p:sp>
      <p:sp>
        <p:nvSpPr>
          <p:cNvPr id="84" name="Shape 72"/>
          <p:cNvSpPr/>
          <p:nvPr/>
        </p:nvSpPr>
        <p:spPr>
          <a:xfrm>
            <a:off x="9507931" y="3168396"/>
            <a:ext cx="746150" cy="155448"/>
          </a:xfrm>
          <a:prstGeom prst="roundRect">
            <a:avLst>
              <a:gd name="adj" fmla="val 47059"/>
            </a:avLst>
          </a:prstGeom>
          <a:solidFill>
            <a:srgbClr val="D7263D"/>
          </a:solidFill>
          <a:ln/>
        </p:spPr>
      </p:sp>
      <p:sp>
        <p:nvSpPr>
          <p:cNvPr id="85" name="Text 73"/>
          <p:cNvSpPr/>
          <p:nvPr/>
        </p:nvSpPr>
        <p:spPr>
          <a:xfrm>
            <a:off x="9507931" y="3168396"/>
            <a:ext cx="74615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00" dirty="0"/>
          </a:p>
        </p:txBody>
      </p:sp>
      <p:sp>
        <p:nvSpPr>
          <p:cNvPr id="86" name="Text 74"/>
          <p:cNvSpPr/>
          <p:nvPr/>
        </p:nvSpPr>
        <p:spPr>
          <a:xfrm>
            <a:off x="10528402" y="3127248"/>
            <a:ext cx="92903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Churn</a:t>
            </a:r>
            <a:endParaRPr lang="en-US" sz="800" dirty="0"/>
          </a:p>
        </p:txBody>
      </p:sp>
      <p:sp>
        <p:nvSpPr>
          <p:cNvPr id="87" name="Shape 75"/>
          <p:cNvSpPr/>
          <p:nvPr/>
        </p:nvSpPr>
        <p:spPr>
          <a:xfrm>
            <a:off x="8101584" y="3364992"/>
            <a:ext cx="3401568" cy="237744"/>
          </a:xfrm>
          <a:prstGeom prst="rect">
            <a:avLst/>
          </a:prstGeom>
          <a:solidFill>
            <a:srgbClr val="F5F7FA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88" name="Text 76"/>
          <p:cNvSpPr/>
          <p:nvPr/>
        </p:nvSpPr>
        <p:spPr>
          <a:xfrm>
            <a:off x="8147304" y="3364992"/>
            <a:ext cx="126918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B</a:t>
            </a:r>
            <a:endParaRPr lang="en-US" sz="800" dirty="0"/>
          </a:p>
        </p:txBody>
      </p:sp>
      <p:sp>
        <p:nvSpPr>
          <p:cNvPr id="89" name="Shape 77"/>
          <p:cNvSpPr/>
          <p:nvPr/>
        </p:nvSpPr>
        <p:spPr>
          <a:xfrm>
            <a:off x="9507931" y="3406140"/>
            <a:ext cx="746150" cy="155448"/>
          </a:xfrm>
          <a:prstGeom prst="roundRect">
            <a:avLst>
              <a:gd name="adj" fmla="val 47059"/>
            </a:avLst>
          </a:prstGeom>
          <a:solidFill>
            <a:srgbClr val="E8590C"/>
          </a:solidFill>
          <a:ln/>
        </p:spPr>
      </p:sp>
      <p:sp>
        <p:nvSpPr>
          <p:cNvPr id="90" name="Text 78"/>
          <p:cNvSpPr/>
          <p:nvPr/>
        </p:nvSpPr>
        <p:spPr>
          <a:xfrm>
            <a:off x="9507931" y="3406140"/>
            <a:ext cx="74615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00" dirty="0"/>
          </a:p>
        </p:txBody>
      </p:sp>
      <p:sp>
        <p:nvSpPr>
          <p:cNvPr id="91" name="Text 79"/>
          <p:cNvSpPr/>
          <p:nvPr/>
        </p:nvSpPr>
        <p:spPr>
          <a:xfrm>
            <a:off x="10528402" y="3364992"/>
            <a:ext cx="92903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Churn</a:t>
            </a:r>
            <a:endParaRPr lang="en-US" sz="800" dirty="0"/>
          </a:p>
        </p:txBody>
      </p:sp>
      <p:sp>
        <p:nvSpPr>
          <p:cNvPr id="92" name="Shape 80"/>
          <p:cNvSpPr/>
          <p:nvPr/>
        </p:nvSpPr>
        <p:spPr>
          <a:xfrm>
            <a:off x="8101584" y="3602736"/>
            <a:ext cx="340156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93" name="Text 81"/>
          <p:cNvSpPr/>
          <p:nvPr/>
        </p:nvSpPr>
        <p:spPr>
          <a:xfrm>
            <a:off x="8147304" y="3602736"/>
            <a:ext cx="126918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29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C</a:t>
            </a:r>
            <a:endParaRPr lang="en-US" sz="800" dirty="0"/>
          </a:p>
        </p:txBody>
      </p:sp>
      <p:sp>
        <p:nvSpPr>
          <p:cNvPr id="94" name="Shape 82"/>
          <p:cNvSpPr/>
          <p:nvPr/>
        </p:nvSpPr>
        <p:spPr>
          <a:xfrm>
            <a:off x="9507931" y="3643884"/>
            <a:ext cx="746150" cy="155448"/>
          </a:xfrm>
          <a:prstGeom prst="roundRect">
            <a:avLst>
              <a:gd name="adj" fmla="val 47059"/>
            </a:avLst>
          </a:prstGeom>
          <a:solidFill>
            <a:srgbClr val="0B8482"/>
          </a:solidFill>
          <a:ln/>
        </p:spPr>
      </p:sp>
      <p:sp>
        <p:nvSpPr>
          <p:cNvPr id="95" name="Text 83"/>
          <p:cNvSpPr/>
          <p:nvPr/>
        </p:nvSpPr>
        <p:spPr>
          <a:xfrm>
            <a:off x="9507931" y="3643884"/>
            <a:ext cx="74615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</a:t>
            </a:r>
            <a:endParaRPr lang="en-US" sz="700" dirty="0"/>
          </a:p>
        </p:txBody>
      </p:sp>
      <p:sp>
        <p:nvSpPr>
          <p:cNvPr id="96" name="Text 84"/>
          <p:cNvSpPr/>
          <p:nvPr/>
        </p:nvSpPr>
        <p:spPr>
          <a:xfrm>
            <a:off x="10528402" y="3602736"/>
            <a:ext cx="92903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Retain</a:t>
            </a:r>
            <a:endParaRPr lang="en-US" sz="800" dirty="0"/>
          </a:p>
        </p:txBody>
      </p:sp>
      <p:sp>
        <p:nvSpPr>
          <p:cNvPr id="97" name="Shape 85"/>
          <p:cNvSpPr/>
          <p:nvPr/>
        </p:nvSpPr>
        <p:spPr>
          <a:xfrm>
            <a:off x="502920" y="5385816"/>
            <a:ext cx="54864" cy="502920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98" name="Shape 86"/>
          <p:cNvSpPr/>
          <p:nvPr/>
        </p:nvSpPr>
        <p:spPr>
          <a:xfrm>
            <a:off x="557784" y="5385816"/>
            <a:ext cx="11128248" cy="5029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99" name="Text 87"/>
          <p:cNvSpPr/>
          <p:nvPr/>
        </p:nvSpPr>
        <p:spPr>
          <a:xfrm>
            <a:off x="822960" y="5385816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model is exposed as an operational service rather than remaining inside a notebook.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84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VALUE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155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Churn Prediction to Retention Intelligence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83112" cy="16459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6565392"/>
            <a:ext cx="11183112" cy="10973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661111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CHURN PREDICTION PLATFORM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972800" y="6611112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12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124358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B84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IMPACT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1572768"/>
            <a:ext cx="2672334" cy="1188720"/>
          </a:xfrm>
          <a:prstGeom prst="roundRect">
            <a:avLst>
              <a:gd name="adj" fmla="val 4615"/>
            </a:avLst>
          </a:prstGeom>
          <a:solidFill>
            <a:srgbClr val="F5F7FA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572768"/>
            <a:ext cx="2672334" cy="41148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12" name="Shape 10"/>
          <p:cNvSpPr/>
          <p:nvPr/>
        </p:nvSpPr>
        <p:spPr>
          <a:xfrm>
            <a:off x="649224" y="1728216"/>
            <a:ext cx="365760" cy="365760"/>
          </a:xfrm>
          <a:prstGeom prst="ellipse">
            <a:avLst/>
          </a:prstGeom>
          <a:solidFill>
            <a:srgbClr val="E6F7F6"/>
          </a:solidFill>
          <a:ln/>
        </p:spPr>
      </p:sp>
      <p:pic>
        <p:nvPicPr>
          <p:cNvPr id="13" name="Image 0" descr="/home/claude/icons/zap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10512"/>
            <a:ext cx="201168" cy="20116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9224" y="2167128"/>
            <a:ext cx="237972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Prediction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9224" y="2423160"/>
            <a:ext cx="237972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Reduces manual churn analysis.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339846" y="1572768"/>
            <a:ext cx="2672334" cy="1188720"/>
          </a:xfrm>
          <a:prstGeom prst="roundRect">
            <a:avLst>
              <a:gd name="adj" fmla="val 4615"/>
            </a:avLst>
          </a:prstGeom>
          <a:solidFill>
            <a:srgbClr val="F5F7FA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339846" y="1572768"/>
            <a:ext cx="2672334" cy="41148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18" name="Shape 15"/>
          <p:cNvSpPr/>
          <p:nvPr/>
        </p:nvSpPr>
        <p:spPr>
          <a:xfrm>
            <a:off x="3486150" y="1728216"/>
            <a:ext cx="365760" cy="365760"/>
          </a:xfrm>
          <a:prstGeom prst="ellipse">
            <a:avLst/>
          </a:prstGeom>
          <a:solidFill>
            <a:srgbClr val="E6F7F6"/>
          </a:solidFill>
          <a:ln/>
        </p:spPr>
      </p:sp>
      <p:pic>
        <p:nvPicPr>
          <p:cNvPr id="19" name="Image 1" descr="/home/claude/icons/search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446" y="1810512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486150" y="2167128"/>
            <a:ext cx="237972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High-Risk Identification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486150" y="2423160"/>
            <a:ext cx="237972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Prioritizes customers requiring attention.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6176772" y="1572768"/>
            <a:ext cx="2672334" cy="1188720"/>
          </a:xfrm>
          <a:prstGeom prst="roundRect">
            <a:avLst>
              <a:gd name="adj" fmla="val 4615"/>
            </a:avLst>
          </a:prstGeom>
          <a:solidFill>
            <a:srgbClr val="F5F7FA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176772" y="1572768"/>
            <a:ext cx="2672334" cy="41148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24" name="Shape 20"/>
          <p:cNvSpPr/>
          <p:nvPr/>
        </p:nvSpPr>
        <p:spPr>
          <a:xfrm>
            <a:off x="6323076" y="1728216"/>
            <a:ext cx="365760" cy="365760"/>
          </a:xfrm>
          <a:prstGeom prst="ellipse">
            <a:avLst/>
          </a:prstGeom>
          <a:solidFill>
            <a:srgbClr val="E6F7F6"/>
          </a:solidFill>
          <a:ln/>
        </p:spPr>
      </p:sp>
      <p:pic>
        <p:nvPicPr>
          <p:cNvPr id="25" name="Image 2" descr="/home/claude/icons/target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372" y="1810512"/>
            <a:ext cx="201168" cy="20116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323076" y="2167128"/>
            <a:ext cx="237972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Retention Support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6323076" y="2423160"/>
            <a:ext cx="237972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Provides signals for targeted retention campaigns.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9013698" y="1572768"/>
            <a:ext cx="2672334" cy="1188720"/>
          </a:xfrm>
          <a:prstGeom prst="roundRect">
            <a:avLst>
              <a:gd name="adj" fmla="val 4615"/>
            </a:avLst>
          </a:prstGeom>
          <a:solidFill>
            <a:srgbClr val="F5F7FA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9013698" y="1572768"/>
            <a:ext cx="2672334" cy="41148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0" name="Shape 25"/>
          <p:cNvSpPr/>
          <p:nvPr/>
        </p:nvSpPr>
        <p:spPr>
          <a:xfrm>
            <a:off x="9160002" y="1728216"/>
            <a:ext cx="365760" cy="365760"/>
          </a:xfrm>
          <a:prstGeom prst="ellipse">
            <a:avLst/>
          </a:prstGeom>
          <a:solidFill>
            <a:srgbClr val="E6F7F6"/>
          </a:solidFill>
          <a:ln/>
        </p:spPr>
      </p:sp>
      <p:pic>
        <p:nvPicPr>
          <p:cNvPr id="31" name="Image 3" descr="/home/claude/icons/barchart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2298" y="1810512"/>
            <a:ext cx="201168" cy="20116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160002" y="2167128"/>
            <a:ext cx="237972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Support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9160002" y="2423160"/>
            <a:ext cx="237972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Converts customer data into actionable intelligence.</a:t>
            </a:r>
            <a:endParaRPr lang="en-US" sz="850" dirty="0"/>
          </a:p>
        </p:txBody>
      </p:sp>
      <p:sp>
        <p:nvSpPr>
          <p:cNvPr id="34" name="Text 28"/>
          <p:cNvSpPr/>
          <p:nvPr/>
        </p:nvSpPr>
        <p:spPr>
          <a:xfrm>
            <a:off x="502920" y="312724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B84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ROADMAP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685800" y="3630168"/>
            <a:ext cx="10332720" cy="27432"/>
          </a:xfrm>
          <a:prstGeom prst="rect">
            <a:avLst/>
          </a:prstGeom>
          <a:solidFill>
            <a:srgbClr val="E2E6ED"/>
          </a:solidFill>
          <a:ln/>
        </p:spPr>
      </p:sp>
      <p:sp>
        <p:nvSpPr>
          <p:cNvPr id="36" name="Shape 30"/>
          <p:cNvSpPr/>
          <p:nvPr/>
        </p:nvSpPr>
        <p:spPr>
          <a:xfrm>
            <a:off x="539496" y="3511296"/>
            <a:ext cx="292608" cy="292608"/>
          </a:xfrm>
          <a:prstGeom prst="ellipse">
            <a:avLst/>
          </a:prstGeom>
          <a:solidFill>
            <a:srgbClr val="0B84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539496" y="35112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50" dirty="0"/>
          </a:p>
        </p:txBody>
      </p:sp>
      <p:sp>
        <p:nvSpPr>
          <p:cNvPr id="38" name="Text 32"/>
          <p:cNvSpPr/>
          <p:nvPr/>
        </p:nvSpPr>
        <p:spPr>
          <a:xfrm>
            <a:off x="0" y="386791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B84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</a:t>
            </a:r>
            <a:endParaRPr lang="en-US" sz="750" dirty="0"/>
          </a:p>
        </p:txBody>
      </p:sp>
      <p:sp>
        <p:nvSpPr>
          <p:cNvPr id="39" name="Text 33"/>
          <p:cNvSpPr/>
          <p:nvPr/>
        </p:nvSpPr>
        <p:spPr>
          <a:xfrm>
            <a:off x="0" y="405079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Models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(XGBoost)</a:t>
            </a:r>
            <a:endParaRPr lang="en-US" sz="950" dirty="0"/>
          </a:p>
        </p:txBody>
      </p:sp>
      <p:sp>
        <p:nvSpPr>
          <p:cNvPr id="40" name="Shape 34"/>
          <p:cNvSpPr/>
          <p:nvPr/>
        </p:nvSpPr>
        <p:spPr>
          <a:xfrm>
            <a:off x="2606040" y="3511296"/>
            <a:ext cx="292608" cy="292608"/>
          </a:xfrm>
          <a:prstGeom prst="ellipse">
            <a:avLst/>
          </a:prstGeom>
          <a:solidFill>
            <a:srgbClr val="1328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2606040" y="35112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50" dirty="0"/>
          </a:p>
        </p:txBody>
      </p:sp>
      <p:sp>
        <p:nvSpPr>
          <p:cNvPr id="42" name="Text 36"/>
          <p:cNvSpPr/>
          <p:nvPr/>
        </p:nvSpPr>
        <p:spPr>
          <a:xfrm>
            <a:off x="2066544" y="386791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B84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</a:t>
            </a:r>
            <a:endParaRPr lang="en-US" sz="750" dirty="0"/>
          </a:p>
        </p:txBody>
      </p:sp>
      <p:sp>
        <p:nvSpPr>
          <p:cNvPr id="43" name="Text 37"/>
          <p:cNvSpPr/>
          <p:nvPr/>
        </p:nvSpPr>
        <p:spPr>
          <a:xfrm>
            <a:off x="2066544" y="405079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Hyperparameter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Optimization</a:t>
            </a:r>
            <a:endParaRPr lang="en-US" sz="950" dirty="0"/>
          </a:p>
        </p:txBody>
      </p:sp>
      <p:sp>
        <p:nvSpPr>
          <p:cNvPr id="44" name="Shape 38"/>
          <p:cNvSpPr/>
          <p:nvPr/>
        </p:nvSpPr>
        <p:spPr>
          <a:xfrm>
            <a:off x="4672584" y="3511296"/>
            <a:ext cx="292608" cy="292608"/>
          </a:xfrm>
          <a:prstGeom prst="ellipse">
            <a:avLst/>
          </a:prstGeom>
          <a:solidFill>
            <a:srgbClr val="1328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4672584" y="35112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50" dirty="0"/>
          </a:p>
        </p:txBody>
      </p:sp>
      <p:sp>
        <p:nvSpPr>
          <p:cNvPr id="46" name="Text 40"/>
          <p:cNvSpPr/>
          <p:nvPr/>
        </p:nvSpPr>
        <p:spPr>
          <a:xfrm>
            <a:off x="4133088" y="386791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B84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</a:t>
            </a:r>
            <a:endParaRPr lang="en-US" sz="750" dirty="0"/>
          </a:p>
        </p:txBody>
      </p:sp>
      <p:sp>
        <p:nvSpPr>
          <p:cNvPr id="47" name="Text 41"/>
          <p:cNvSpPr/>
          <p:nvPr/>
        </p:nvSpPr>
        <p:spPr>
          <a:xfrm>
            <a:off x="4133088" y="405079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SHAP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Explainability</a:t>
            </a:r>
            <a:endParaRPr lang="en-US" sz="950" dirty="0"/>
          </a:p>
        </p:txBody>
      </p:sp>
      <p:sp>
        <p:nvSpPr>
          <p:cNvPr id="48" name="Shape 42"/>
          <p:cNvSpPr/>
          <p:nvPr/>
        </p:nvSpPr>
        <p:spPr>
          <a:xfrm>
            <a:off x="6739128" y="3511296"/>
            <a:ext cx="292608" cy="292608"/>
          </a:xfrm>
          <a:prstGeom prst="ellipse">
            <a:avLst/>
          </a:prstGeom>
          <a:solidFill>
            <a:srgbClr val="1328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6739128" y="35112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50" dirty="0"/>
          </a:p>
        </p:txBody>
      </p:sp>
      <p:sp>
        <p:nvSpPr>
          <p:cNvPr id="50" name="Text 44"/>
          <p:cNvSpPr/>
          <p:nvPr/>
        </p:nvSpPr>
        <p:spPr>
          <a:xfrm>
            <a:off x="6199632" y="386791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B84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4</a:t>
            </a:r>
            <a:endParaRPr lang="en-US" sz="750" dirty="0"/>
          </a:p>
        </p:txBody>
      </p:sp>
      <p:sp>
        <p:nvSpPr>
          <p:cNvPr id="51" name="Text 45"/>
          <p:cNvSpPr/>
          <p:nvPr/>
        </p:nvSpPr>
        <p:spPr>
          <a:xfrm>
            <a:off x="6199632" y="405079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Retraining</a:t>
            </a:r>
            <a:endParaRPr lang="en-US" sz="950" dirty="0"/>
          </a:p>
        </p:txBody>
      </p:sp>
      <p:sp>
        <p:nvSpPr>
          <p:cNvPr id="52" name="Shape 46"/>
          <p:cNvSpPr/>
          <p:nvPr/>
        </p:nvSpPr>
        <p:spPr>
          <a:xfrm>
            <a:off x="8805672" y="3511296"/>
            <a:ext cx="292608" cy="292608"/>
          </a:xfrm>
          <a:prstGeom prst="ellipse">
            <a:avLst/>
          </a:prstGeom>
          <a:solidFill>
            <a:srgbClr val="1328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47"/>
          <p:cNvSpPr/>
          <p:nvPr/>
        </p:nvSpPr>
        <p:spPr>
          <a:xfrm>
            <a:off x="8805672" y="35112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50" dirty="0"/>
          </a:p>
        </p:txBody>
      </p:sp>
      <p:sp>
        <p:nvSpPr>
          <p:cNvPr id="54" name="Text 48"/>
          <p:cNvSpPr/>
          <p:nvPr/>
        </p:nvSpPr>
        <p:spPr>
          <a:xfrm>
            <a:off x="8266176" y="386791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B84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5</a:t>
            </a:r>
            <a:endParaRPr lang="en-US" sz="750" dirty="0"/>
          </a:p>
        </p:txBody>
      </p:sp>
      <p:sp>
        <p:nvSpPr>
          <p:cNvPr id="55" name="Text 49"/>
          <p:cNvSpPr/>
          <p:nvPr/>
        </p:nvSpPr>
        <p:spPr>
          <a:xfrm>
            <a:off x="8266176" y="405079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MLOps</a:t>
            </a:r>
            <a:endParaRPr lang="en-US" sz="950" dirty="0"/>
          </a:p>
        </p:txBody>
      </p:sp>
      <p:sp>
        <p:nvSpPr>
          <p:cNvPr id="56" name="Shape 50"/>
          <p:cNvSpPr/>
          <p:nvPr/>
        </p:nvSpPr>
        <p:spPr>
          <a:xfrm>
            <a:off x="10872216" y="3511296"/>
            <a:ext cx="292608" cy="292608"/>
          </a:xfrm>
          <a:prstGeom prst="ellipse">
            <a:avLst/>
          </a:prstGeom>
          <a:solidFill>
            <a:srgbClr val="1328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1"/>
          <p:cNvSpPr/>
          <p:nvPr/>
        </p:nvSpPr>
        <p:spPr>
          <a:xfrm>
            <a:off x="10872216" y="35112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050" dirty="0"/>
          </a:p>
        </p:txBody>
      </p:sp>
      <p:sp>
        <p:nvSpPr>
          <p:cNvPr id="58" name="Text 52"/>
          <p:cNvSpPr/>
          <p:nvPr/>
        </p:nvSpPr>
        <p:spPr>
          <a:xfrm>
            <a:off x="10332720" y="386791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B84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6</a:t>
            </a:r>
            <a:endParaRPr lang="en-US" sz="750" dirty="0"/>
          </a:p>
        </p:txBody>
      </p:sp>
      <p:sp>
        <p:nvSpPr>
          <p:cNvPr id="59" name="Text 53"/>
          <p:cNvSpPr/>
          <p:nvPr/>
        </p:nvSpPr>
        <p:spPr>
          <a:xfrm>
            <a:off x="10332720" y="405079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</a:t>
            </a:r>
            <a:endParaRPr lang="en-US" sz="950" dirty="0"/>
          </a:p>
        </p:txBody>
      </p:sp>
      <p:sp>
        <p:nvSpPr>
          <p:cNvPr id="60" name="Shape 54"/>
          <p:cNvSpPr/>
          <p:nvPr/>
        </p:nvSpPr>
        <p:spPr>
          <a:xfrm>
            <a:off x="0" y="4681728"/>
            <a:ext cx="12191695" cy="217627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61" name="Shape 55"/>
          <p:cNvSpPr/>
          <p:nvPr/>
        </p:nvSpPr>
        <p:spPr>
          <a:xfrm>
            <a:off x="0" y="4681728"/>
            <a:ext cx="12191695" cy="45720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62" name="Text 56"/>
          <p:cNvSpPr/>
          <p:nvPr/>
        </p:nvSpPr>
        <p:spPr>
          <a:xfrm>
            <a:off x="0" y="5358384"/>
            <a:ext cx="121916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63" name="Text 57"/>
          <p:cNvSpPr/>
          <p:nvPr/>
        </p:nvSpPr>
        <p:spPr>
          <a:xfrm>
            <a:off x="0" y="5879592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2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Churn Prediction Platform  —  Sachein Diwakar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Customer Churn Prediction Platform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2026-10-07T18:31:44Z</dcterms:created>
  <dcterms:modified xsi:type="dcterms:W3CDTF">2026-10-07T18:31:44Z</dcterms:modified>
</cp:coreProperties>
</file>